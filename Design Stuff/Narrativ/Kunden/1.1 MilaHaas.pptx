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Montserrat ExtraBold" panose="00000900000000000000" pitchFamily="2" charset="0"/>
      <p:bold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Tz30nbRXKs5E3vrOIH3TGAJAR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2E3274-4D5C-44BF-BB08-FA6336CB3DAF}">
  <a:tblStyle styleId="{692E3274-4D5C-44BF-BB08-FA6336CB3DA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636e5de4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b636e5de4b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636e5de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3b636e5de4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20 minutes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Remember, when you are done your first draft. YOU ARE NOT DONE.  COUNT YOUR WORDS, if you are over 20 or under 3 in any line of dialogue you must edit your own text to make it fit or expand on the world lore or to make the character speaking sound unique.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20 minutes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Remember, when you are done your first draft. YOU ARE NOT DONE.  COUNT YOUR WORDS, if you are over 20 or under 3 in any line of dialogue you must edit your own text to make it fit or expand on the world lore or to make the character speaking sound unique.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7" name="Google Shape;97;p4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9" name="Google Shape;109;p4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4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4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7" name="Google Shape;117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4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5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5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ild looking up to the side&#10;&#10;AI-generated content may be incorrect.">
            <a:extLst>
              <a:ext uri="{FF2B5EF4-FFF2-40B4-BE49-F238E27FC236}">
                <a16:creationId xmlns:a16="http://schemas.microsoft.com/office/drawing/2014/main" id="{8EB8F4EF-002D-5ECC-CE19-1679DC9BA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052" y="749525"/>
            <a:ext cx="2878586" cy="3644449"/>
          </a:xfrm>
          <a:prstGeom prst="rect">
            <a:avLst/>
          </a:prstGeom>
        </p:spPr>
      </p:pic>
      <p:sp>
        <p:nvSpPr>
          <p:cNvPr id="141" name="Google Shape;141;p2"/>
          <p:cNvSpPr/>
          <p:nvPr/>
        </p:nvSpPr>
        <p:spPr>
          <a:xfrm>
            <a:off x="7242050" y="442650"/>
            <a:ext cx="1562400" cy="7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FACE/HAIR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2"/>
          <p:cNvCxnSpPr>
            <a:cxnSpLocks/>
            <a:stCxn id="8" idx="3"/>
          </p:cNvCxnSpPr>
          <p:nvPr/>
        </p:nvCxnSpPr>
        <p:spPr>
          <a:xfrm>
            <a:off x="1875661" y="1744200"/>
            <a:ext cx="1858037" cy="1310524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46" name="Google Shape;146;p2"/>
          <p:cNvCxnSpPr>
            <a:cxnSpLocks/>
            <a:stCxn id="141" idx="1"/>
          </p:cNvCxnSpPr>
          <p:nvPr/>
        </p:nvCxnSpPr>
        <p:spPr>
          <a:xfrm flipH="1">
            <a:off x="5153891" y="832350"/>
            <a:ext cx="2088159" cy="389688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47" name="Google Shape;147;p2"/>
          <p:cNvCxnSpPr>
            <a:cxnSpLocks/>
          </p:cNvCxnSpPr>
          <p:nvPr/>
        </p:nvCxnSpPr>
        <p:spPr>
          <a:xfrm flipH="1" flipV="1">
            <a:off x="5116945" y="1304863"/>
            <a:ext cx="1319422" cy="439336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9" name="Google Shape;149;p2"/>
          <p:cNvGrpSpPr/>
          <p:nvPr/>
        </p:nvGrpSpPr>
        <p:grpSpPr>
          <a:xfrm>
            <a:off x="275" y="-1900"/>
            <a:ext cx="4420723" cy="779452"/>
            <a:chOff x="0" y="214638"/>
            <a:chExt cx="3107932" cy="815582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51" name="Google Shape;151;p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53" name="Google Shape;153;p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54" name="Google Shape;154;p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56" name="Google Shape;156;p2"/>
          <p:cNvSpPr txBox="1"/>
          <p:nvPr/>
        </p:nvSpPr>
        <p:spPr>
          <a:xfrm flipH="1">
            <a:off x="481200" y="-82550"/>
            <a:ext cx="40908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Mila Haas</a:t>
            </a:r>
            <a:endParaRPr sz="1800" b="0" i="0" u="none" strike="noStrike" cap="none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" name="Picture 5" descr="A close up of a person's eyes&#10;&#10;AI-generated content may be incorrect.">
            <a:extLst>
              <a:ext uri="{FF2B5EF4-FFF2-40B4-BE49-F238E27FC236}">
                <a16:creationId xmlns:a16="http://schemas.microsoft.com/office/drawing/2014/main" id="{35CA345F-0244-C339-008A-F48C934D6E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59"/>
          <a:stretch>
            <a:fillRect/>
          </a:stretch>
        </p:blipFill>
        <p:spPr>
          <a:xfrm>
            <a:off x="7242050" y="71896"/>
            <a:ext cx="1858128" cy="1173439"/>
          </a:xfrm>
          <a:prstGeom prst="rect">
            <a:avLst/>
          </a:prstGeom>
        </p:spPr>
      </p:pic>
      <p:pic>
        <p:nvPicPr>
          <p:cNvPr id="8" name="Picture 7" descr="A red and white striped sweater&#10;&#10;AI-generated content may be incorrect.">
            <a:extLst>
              <a:ext uri="{FF2B5EF4-FFF2-40B4-BE49-F238E27FC236}">
                <a16:creationId xmlns:a16="http://schemas.microsoft.com/office/drawing/2014/main" id="{141A56A5-7015-706A-308E-083ED104C8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98" t="1208" b="1"/>
          <a:stretch>
            <a:fillRect/>
          </a:stretch>
        </p:blipFill>
        <p:spPr>
          <a:xfrm>
            <a:off x="313260" y="851286"/>
            <a:ext cx="1562401" cy="1785827"/>
          </a:xfrm>
          <a:prstGeom prst="rect">
            <a:avLst/>
          </a:prstGeom>
        </p:spPr>
      </p:pic>
      <p:pic>
        <p:nvPicPr>
          <p:cNvPr id="15" name="Picture 14" descr="A person's legs in jeans and white socks&#10;&#10;AI-generated content may be incorrect.">
            <a:extLst>
              <a:ext uri="{FF2B5EF4-FFF2-40B4-BE49-F238E27FC236}">
                <a16:creationId xmlns:a16="http://schemas.microsoft.com/office/drawing/2014/main" id="{B3E8FEC9-A563-47BC-1339-FBEC830007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80" y="2697649"/>
            <a:ext cx="1414128" cy="1865218"/>
          </a:xfrm>
          <a:prstGeom prst="rect">
            <a:avLst/>
          </a:prstGeom>
        </p:spPr>
      </p:pic>
      <p:cxnSp>
        <p:nvCxnSpPr>
          <p:cNvPr id="21" name="Google Shape;148;p2">
            <a:extLst>
              <a:ext uri="{FF2B5EF4-FFF2-40B4-BE49-F238E27FC236}">
                <a16:creationId xmlns:a16="http://schemas.microsoft.com/office/drawing/2014/main" id="{78E12A5D-0E5C-D2E0-A546-B58C99D50BB4}"/>
              </a:ext>
            </a:extLst>
          </p:cNvPr>
          <p:cNvCxnSpPr>
            <a:cxnSpLocks/>
          </p:cNvCxnSpPr>
          <p:nvPr/>
        </p:nvCxnSpPr>
        <p:spPr>
          <a:xfrm>
            <a:off x="1094460" y="3509818"/>
            <a:ext cx="2045904" cy="748146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pic>
        <p:nvPicPr>
          <p:cNvPr id="27" name="Picture 26" descr="A pair of black boots&#10;&#10;AI-generated content may be incorrect.">
            <a:extLst>
              <a:ext uri="{FF2B5EF4-FFF2-40B4-BE49-F238E27FC236}">
                <a16:creationId xmlns:a16="http://schemas.microsoft.com/office/drawing/2014/main" id="{4F7F3F99-F653-A4AC-F04A-F02F8E813A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3272" y="4154691"/>
            <a:ext cx="1006489" cy="816352"/>
          </a:xfrm>
          <a:prstGeom prst="rect">
            <a:avLst/>
          </a:prstGeom>
        </p:spPr>
      </p:pic>
      <p:cxnSp>
        <p:nvCxnSpPr>
          <p:cNvPr id="28" name="Google Shape;148;p2">
            <a:extLst>
              <a:ext uri="{FF2B5EF4-FFF2-40B4-BE49-F238E27FC236}">
                <a16:creationId xmlns:a16="http://schemas.microsoft.com/office/drawing/2014/main" id="{AED5AF03-3F75-DD63-55D4-C1583513FC17}"/>
              </a:ext>
            </a:extLst>
          </p:cNvPr>
          <p:cNvCxnSpPr>
            <a:cxnSpLocks/>
          </p:cNvCxnSpPr>
          <p:nvPr/>
        </p:nvCxnSpPr>
        <p:spPr>
          <a:xfrm>
            <a:off x="1506932" y="4428028"/>
            <a:ext cx="346340" cy="231967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1" name="Google Shape;148;p2">
            <a:extLst>
              <a:ext uri="{FF2B5EF4-FFF2-40B4-BE49-F238E27FC236}">
                <a16:creationId xmlns:a16="http://schemas.microsoft.com/office/drawing/2014/main" id="{8DECDF0A-D00A-FD9C-5F56-4CBF2AF906F8}"/>
              </a:ext>
            </a:extLst>
          </p:cNvPr>
          <p:cNvCxnSpPr>
            <a:cxnSpLocks/>
          </p:cNvCxnSpPr>
          <p:nvPr/>
        </p:nvCxnSpPr>
        <p:spPr>
          <a:xfrm flipV="1">
            <a:off x="2867770" y="4562867"/>
            <a:ext cx="657571" cy="97128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pic>
        <p:nvPicPr>
          <p:cNvPr id="35" name="Picture 34" descr="A group of stars in hair&#10;&#10;AI-generated content may be incorrect.">
            <a:extLst>
              <a:ext uri="{FF2B5EF4-FFF2-40B4-BE49-F238E27FC236}">
                <a16:creationId xmlns:a16="http://schemas.microsoft.com/office/drawing/2014/main" id="{3CB82F9B-1F7A-8431-ECA8-EBB4E77CC4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2435" y="1322118"/>
            <a:ext cx="1087743" cy="1198832"/>
          </a:xfrm>
          <a:prstGeom prst="rect">
            <a:avLst/>
          </a:prstGeom>
        </p:spPr>
      </p:pic>
      <p:pic>
        <p:nvPicPr>
          <p:cNvPr id="37" name="Picture 36" descr="A person's hair with stars in her hair&#10;&#10;AI-generated content may be incorrect.">
            <a:extLst>
              <a:ext uri="{FF2B5EF4-FFF2-40B4-BE49-F238E27FC236}">
                <a16:creationId xmlns:a16="http://schemas.microsoft.com/office/drawing/2014/main" id="{3D748CE3-D983-E49B-9AE0-4CC3124FEA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0866" y="1405040"/>
            <a:ext cx="1467070" cy="879030"/>
          </a:xfrm>
          <a:prstGeom prst="rect">
            <a:avLst/>
          </a:prstGeom>
        </p:spPr>
      </p:pic>
      <p:cxnSp>
        <p:nvCxnSpPr>
          <p:cNvPr id="44" name="Google Shape;147;p2">
            <a:extLst>
              <a:ext uri="{FF2B5EF4-FFF2-40B4-BE49-F238E27FC236}">
                <a16:creationId xmlns:a16="http://schemas.microsoft.com/office/drawing/2014/main" id="{86F541F2-123C-10A4-E96F-EB1B97567DDA}"/>
              </a:ext>
            </a:extLst>
          </p:cNvPr>
          <p:cNvCxnSpPr>
            <a:cxnSpLocks/>
          </p:cNvCxnSpPr>
          <p:nvPr/>
        </p:nvCxnSpPr>
        <p:spPr>
          <a:xfrm flipH="1" flipV="1">
            <a:off x="5116945" y="3131127"/>
            <a:ext cx="1653310" cy="983673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pic>
        <p:nvPicPr>
          <p:cNvPr id="48" name="Picture 47" descr="A necklace with flowers on it&#10;&#10;AI-generated content may be incorrect.">
            <a:extLst>
              <a:ext uri="{FF2B5EF4-FFF2-40B4-BE49-F238E27FC236}">
                <a16:creationId xmlns:a16="http://schemas.microsoft.com/office/drawing/2014/main" id="{716FC136-E32D-394D-ABFD-5C207C75E8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7868" y="3760457"/>
            <a:ext cx="1584594" cy="1267034"/>
          </a:xfrm>
          <a:prstGeom prst="rect">
            <a:avLst/>
          </a:prstGeom>
        </p:spPr>
      </p:pic>
      <p:pic>
        <p:nvPicPr>
          <p:cNvPr id="52" name="Picture 51" descr="A close up of a person's face&#10;&#10;AI-generated content may be incorrect.">
            <a:extLst>
              <a:ext uri="{FF2B5EF4-FFF2-40B4-BE49-F238E27FC236}">
                <a16:creationId xmlns:a16="http://schemas.microsoft.com/office/drawing/2014/main" id="{B6A1D268-4EE6-DF50-1281-6B9D71B3E0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7868" y="2632263"/>
            <a:ext cx="2209804" cy="994727"/>
          </a:xfrm>
          <a:prstGeom prst="rect">
            <a:avLst/>
          </a:prstGeom>
        </p:spPr>
      </p:pic>
      <p:cxnSp>
        <p:nvCxnSpPr>
          <p:cNvPr id="53" name="Google Shape;147;p2">
            <a:extLst>
              <a:ext uri="{FF2B5EF4-FFF2-40B4-BE49-F238E27FC236}">
                <a16:creationId xmlns:a16="http://schemas.microsoft.com/office/drawing/2014/main" id="{8CAC76B0-58FD-FFCE-54C8-5FC8CA60C696}"/>
              </a:ext>
            </a:extLst>
          </p:cNvPr>
          <p:cNvCxnSpPr>
            <a:cxnSpLocks/>
          </p:cNvCxnSpPr>
          <p:nvPr/>
        </p:nvCxnSpPr>
        <p:spPr>
          <a:xfrm flipH="1" flipV="1">
            <a:off x="5470597" y="2165927"/>
            <a:ext cx="1265802" cy="917165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g3b636e5de4b_0_32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62" name="Google Shape;162;g3b636e5de4b_0_3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63" name="Google Shape;163;g3b636e5de4b_0_3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4" name="Google Shape;164;g3b636e5de4b_0_3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65" name="Google Shape;165;g3b636e5de4b_0_3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66" name="Google Shape;166;g3b636e5de4b_0_3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7" name="Google Shape;167;g3b636e5de4b_0_3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68" name="Google Shape;168;g3b636e5de4b_0_32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Checklist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" name="Google Shape;169;g3b636e5de4b_0_32"/>
          <p:cNvGraphicFramePr/>
          <p:nvPr/>
        </p:nvGraphicFramePr>
        <p:xfrm>
          <a:off x="21850" y="851289"/>
          <a:ext cx="9080600" cy="4974750"/>
        </p:xfrm>
        <a:graphic>
          <a:graphicData uri="http://schemas.openxmlformats.org/drawingml/2006/table">
            <a:tbl>
              <a:tblPr bandCol="1">
                <a:noFill/>
                <a:tableStyleId>{692E3274-4D5C-44BF-BB08-FA6336CB3DAF}</a:tableStyleId>
              </a:tblPr>
              <a:tblGrid>
                <a:gridCol w="227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Goal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dirty="0"/>
                        <a:t>Why do they do, what they do</a:t>
                      </a:r>
                      <a:endParaRPr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 specific personality / Universal Behaviour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What makes them different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Flaw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something negative about them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Secrets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Something mysterious about them (can be silly)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Belonging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Which group do they belong too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Assertiveness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How does he present himself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Believe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In what do they believe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Specific Tastes and professions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What do they prefer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Information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How does he enrich the world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Hurt Them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The most hurtful situation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Special Skill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100"/>
                        <a:t>Give them a cool but very dumb quirk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/>
        </p:nvSpPr>
        <p:spPr>
          <a:xfrm>
            <a:off x="22124" y="703635"/>
            <a:ext cx="91221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Name: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Gender: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Personality: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Alignment: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Occupation: 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shortly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3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76" name="Google Shape;176;p3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77" name="Google Shape;177;p3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79" name="Google Shape;179;p3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80" name="Google Shape;180;p3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82" name="Google Shape;182;p3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(short)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 txBox="1"/>
          <p:nvPr/>
        </p:nvSpPr>
        <p:spPr>
          <a:xfrm>
            <a:off x="22124" y="703635"/>
            <a:ext cx="9122100" cy="3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(see the checklist)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200" b="0" i="0" u="none" strike="noStrike" cap="non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4"/>
          <p:cNvGrpSpPr/>
          <p:nvPr/>
        </p:nvGrpSpPr>
        <p:grpSpPr>
          <a:xfrm>
            <a:off x="274" y="-1897"/>
            <a:ext cx="3894239" cy="779452"/>
            <a:chOff x="0" y="214638"/>
            <a:chExt cx="3107932" cy="815582"/>
          </a:xfrm>
        </p:grpSpPr>
        <p:grpSp>
          <p:nvGrpSpPr>
            <p:cNvPr id="189" name="Google Shape;189;p4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90" name="Google Shape;190;p4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92" name="Google Shape;192;p4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93" name="Google Shape;193;p4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95" name="Google Shape;195;p4"/>
          <p:cNvSpPr txBox="1"/>
          <p:nvPr/>
        </p:nvSpPr>
        <p:spPr>
          <a:xfrm flipH="1">
            <a:off x="12896" y="-82558"/>
            <a:ext cx="38055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(Long)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5"/>
          <p:cNvGrpSpPr/>
          <p:nvPr/>
        </p:nvGrpSpPr>
        <p:grpSpPr>
          <a:xfrm>
            <a:off x="27169" y="24983"/>
            <a:ext cx="2858365" cy="550436"/>
            <a:chOff x="0" y="214638"/>
            <a:chExt cx="3107932" cy="815582"/>
          </a:xfrm>
        </p:grpSpPr>
        <p:grpSp>
          <p:nvGrpSpPr>
            <p:cNvPr id="201" name="Google Shape;201;p5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202" name="Google Shape;202;p5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04" name="Google Shape;204;p5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205" name="Google Shape;205;p5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207" name="Google Shape;207;p5"/>
          <p:cNvSpPr txBox="1"/>
          <p:nvPr/>
        </p:nvSpPr>
        <p:spPr>
          <a:xfrm flipH="1">
            <a:off x="81385" y="-232075"/>
            <a:ext cx="28380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Weapons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16389" y="771225"/>
            <a:ext cx="26346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Weapon  -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de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Detailed Description: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3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-"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636e5de4b_0_0"/>
          <p:cNvSpPr/>
          <p:nvPr/>
        </p:nvSpPr>
        <p:spPr>
          <a:xfrm>
            <a:off x="245556" y="997143"/>
            <a:ext cx="2394900" cy="25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b636e5de4b_0_0"/>
          <p:cNvSpPr txBox="1"/>
          <p:nvPr/>
        </p:nvSpPr>
        <p:spPr>
          <a:xfrm>
            <a:off x="245556" y="12663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de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g3b636e5de4b_0_0"/>
          <p:cNvGrpSpPr/>
          <p:nvPr/>
        </p:nvGrpSpPr>
        <p:grpSpPr>
          <a:xfrm>
            <a:off x="27169" y="24983"/>
            <a:ext cx="2858365" cy="550436"/>
            <a:chOff x="0" y="214638"/>
            <a:chExt cx="3107932" cy="815582"/>
          </a:xfrm>
        </p:grpSpPr>
        <p:grpSp>
          <p:nvGrpSpPr>
            <p:cNvPr id="216" name="Google Shape;216;g3b636e5de4b_0_0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217" name="Google Shape;217;g3b636e5de4b_0_0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8" name="Google Shape;218;g3b636e5de4b_0_0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19" name="Google Shape;219;g3b636e5de4b_0_0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220" name="Google Shape;220;g3b636e5de4b_0_0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1" name="Google Shape;221;g3b636e5de4b_0_0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222" name="Google Shape;222;g3b636e5de4b_0_0"/>
          <p:cNvSpPr txBox="1"/>
          <p:nvPr/>
        </p:nvSpPr>
        <p:spPr>
          <a:xfrm flipH="1">
            <a:off x="50585" y="-232050"/>
            <a:ext cx="28380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Attacks </a:t>
            </a: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&amp; Abillities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b636e5de4b_0_0"/>
          <p:cNvSpPr/>
          <p:nvPr/>
        </p:nvSpPr>
        <p:spPr>
          <a:xfrm>
            <a:off x="2885531" y="997143"/>
            <a:ext cx="2394900" cy="25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b636e5de4b_0_0"/>
          <p:cNvSpPr txBox="1"/>
          <p:nvPr/>
        </p:nvSpPr>
        <p:spPr>
          <a:xfrm>
            <a:off x="2885531" y="12663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de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b636e5de4b_0_0"/>
          <p:cNvSpPr/>
          <p:nvPr/>
        </p:nvSpPr>
        <p:spPr>
          <a:xfrm>
            <a:off x="5525506" y="997143"/>
            <a:ext cx="2394900" cy="25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b636e5de4b_0_0"/>
          <p:cNvSpPr txBox="1"/>
          <p:nvPr/>
        </p:nvSpPr>
        <p:spPr>
          <a:xfrm>
            <a:off x="5525506" y="12663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de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b636e5de4b_0_0"/>
          <p:cNvSpPr/>
          <p:nvPr/>
        </p:nvSpPr>
        <p:spPr>
          <a:xfrm>
            <a:off x="245556" y="2571743"/>
            <a:ext cx="2394900" cy="25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b636e5de4b_0_0"/>
          <p:cNvSpPr txBox="1"/>
          <p:nvPr/>
        </p:nvSpPr>
        <p:spPr>
          <a:xfrm>
            <a:off x="245556" y="28409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de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b636e5de4b_0_0"/>
          <p:cNvSpPr/>
          <p:nvPr/>
        </p:nvSpPr>
        <p:spPr>
          <a:xfrm>
            <a:off x="2885531" y="2571743"/>
            <a:ext cx="2394900" cy="25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b636e5de4b_0_0"/>
          <p:cNvSpPr txBox="1"/>
          <p:nvPr/>
        </p:nvSpPr>
        <p:spPr>
          <a:xfrm>
            <a:off x="2885531" y="28409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de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b636e5de4b_0_0"/>
          <p:cNvSpPr/>
          <p:nvPr/>
        </p:nvSpPr>
        <p:spPr>
          <a:xfrm>
            <a:off x="5525506" y="2571743"/>
            <a:ext cx="2394900" cy="25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b636e5de4b_0_0"/>
          <p:cNvSpPr txBox="1"/>
          <p:nvPr/>
        </p:nvSpPr>
        <p:spPr>
          <a:xfrm>
            <a:off x="5525506" y="28409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de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" name="Google Shape;237;p6"/>
          <p:cNvGraphicFramePr/>
          <p:nvPr/>
        </p:nvGraphicFramePr>
        <p:xfrm>
          <a:off x="35626" y="505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{692E3274-4D5C-44BF-BB08-FA6336CB3DAF}</a:tableStyleId>
              </a:tblPr>
              <a:tblGrid>
                <a:gridCol w="129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" name="Google Shape;242;p7"/>
          <p:cNvGraphicFramePr/>
          <p:nvPr/>
        </p:nvGraphicFramePr>
        <p:xfrm>
          <a:off x="35626" y="50514"/>
          <a:ext cx="9108400" cy="5521740"/>
        </p:xfrm>
        <a:graphic>
          <a:graphicData uri="http://schemas.openxmlformats.org/drawingml/2006/table">
            <a:tbl>
              <a:tblPr firstRow="1" bandRow="1">
                <a:noFill/>
                <a:tableStyleId>{692E3274-4D5C-44BF-BB08-FA6336CB3DAF}</a:tableStyleId>
              </a:tblPr>
              <a:tblGrid>
                <a:gridCol w="130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v01 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43" name="Google Shape;243;p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</Words>
  <Application>Microsoft Office PowerPoint</Application>
  <PresentationFormat>On-screen Show (16:9)</PresentationFormat>
  <Paragraphs>124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Arial</vt:lpstr>
      <vt:lpstr>Montserrat ExtraBold</vt:lpstr>
      <vt:lpstr>Montserrat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Rika Brenner</dc:creator>
  <cp:lastModifiedBy>Brenner, Rika (Stud SRH-University)</cp:lastModifiedBy>
  <cp:revision>1</cp:revision>
  <dcterms:modified xsi:type="dcterms:W3CDTF">2026-01-30T20:32:15Z</dcterms:modified>
</cp:coreProperties>
</file>