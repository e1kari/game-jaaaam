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2" r:id="rId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9"/>
      <p:bold r:id="rId10"/>
      <p:italic r:id="rId11"/>
      <p:boldItalic r:id="rId12"/>
    </p:embeddedFont>
    <p:embeddedFont>
      <p:font typeface="Montserrat ExtraBold" panose="00000900000000000000" pitchFamily="2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b636e5de4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ild looking up to the side&#10;&#10;AI-generated content may be incorrect.">
            <a:extLst>
              <a:ext uri="{FF2B5EF4-FFF2-40B4-BE49-F238E27FC236}">
                <a16:creationId xmlns:a16="http://schemas.microsoft.com/office/drawing/2014/main" id="{8EB8F4EF-002D-5ECC-CE19-1679DC9BA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052" y="749525"/>
            <a:ext cx="2878586" cy="3644449"/>
          </a:xfrm>
          <a:prstGeom prst="rect">
            <a:avLst/>
          </a:prstGeom>
        </p:spPr>
      </p:pic>
      <p:sp>
        <p:nvSpPr>
          <p:cNvPr id="141" name="Google Shape;141;p2"/>
          <p:cNvSpPr/>
          <p:nvPr/>
        </p:nvSpPr>
        <p:spPr>
          <a:xfrm>
            <a:off x="7242050" y="442650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FACE/HAIR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2"/>
          <p:cNvCxnSpPr>
            <a:cxnSpLocks/>
            <a:stCxn id="8" idx="3"/>
          </p:cNvCxnSpPr>
          <p:nvPr/>
        </p:nvCxnSpPr>
        <p:spPr>
          <a:xfrm>
            <a:off x="1875661" y="1744200"/>
            <a:ext cx="1858037" cy="1310524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46" name="Google Shape;146;p2"/>
          <p:cNvCxnSpPr>
            <a:cxnSpLocks/>
            <a:stCxn id="141" idx="1"/>
          </p:cNvCxnSpPr>
          <p:nvPr/>
        </p:nvCxnSpPr>
        <p:spPr>
          <a:xfrm flipH="1">
            <a:off x="5153891" y="832350"/>
            <a:ext cx="2088159" cy="38968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47" name="Google Shape;147;p2"/>
          <p:cNvCxnSpPr>
            <a:cxnSpLocks/>
          </p:cNvCxnSpPr>
          <p:nvPr/>
        </p:nvCxnSpPr>
        <p:spPr>
          <a:xfrm flipH="1" flipV="1">
            <a:off x="5116945" y="1304863"/>
            <a:ext cx="1319422" cy="43933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481200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Mila Haas</a:t>
            </a:r>
            <a:endParaRPr sz="18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" name="Picture 5" descr="A close up of a person's eyes&#10;&#10;AI-generated content may be incorrect.">
            <a:extLst>
              <a:ext uri="{FF2B5EF4-FFF2-40B4-BE49-F238E27FC236}">
                <a16:creationId xmlns:a16="http://schemas.microsoft.com/office/drawing/2014/main" id="{35CA345F-0244-C339-008A-F48C934D6E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59"/>
          <a:stretch>
            <a:fillRect/>
          </a:stretch>
        </p:blipFill>
        <p:spPr>
          <a:xfrm>
            <a:off x="7242050" y="71896"/>
            <a:ext cx="1858128" cy="1173439"/>
          </a:xfrm>
          <a:prstGeom prst="rect">
            <a:avLst/>
          </a:prstGeom>
        </p:spPr>
      </p:pic>
      <p:pic>
        <p:nvPicPr>
          <p:cNvPr id="8" name="Picture 7" descr="A red and white striped sweater&#10;&#10;AI-generated content may be incorrect.">
            <a:extLst>
              <a:ext uri="{FF2B5EF4-FFF2-40B4-BE49-F238E27FC236}">
                <a16:creationId xmlns:a16="http://schemas.microsoft.com/office/drawing/2014/main" id="{141A56A5-7015-706A-308E-083ED104C8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98" t="1208" b="1"/>
          <a:stretch>
            <a:fillRect/>
          </a:stretch>
        </p:blipFill>
        <p:spPr>
          <a:xfrm>
            <a:off x="313260" y="851286"/>
            <a:ext cx="1562401" cy="1785827"/>
          </a:xfrm>
          <a:prstGeom prst="rect">
            <a:avLst/>
          </a:prstGeom>
        </p:spPr>
      </p:pic>
      <p:pic>
        <p:nvPicPr>
          <p:cNvPr id="15" name="Picture 14" descr="A person's legs in jeans and white socks&#10;&#10;AI-generated content may be incorrect.">
            <a:extLst>
              <a:ext uri="{FF2B5EF4-FFF2-40B4-BE49-F238E27FC236}">
                <a16:creationId xmlns:a16="http://schemas.microsoft.com/office/drawing/2014/main" id="{B3E8FEC9-A563-47BC-1339-FBEC83000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80" y="2697649"/>
            <a:ext cx="1414128" cy="1865218"/>
          </a:xfrm>
          <a:prstGeom prst="rect">
            <a:avLst/>
          </a:prstGeom>
        </p:spPr>
      </p:pic>
      <p:cxnSp>
        <p:nvCxnSpPr>
          <p:cNvPr id="21" name="Google Shape;148;p2">
            <a:extLst>
              <a:ext uri="{FF2B5EF4-FFF2-40B4-BE49-F238E27FC236}">
                <a16:creationId xmlns:a16="http://schemas.microsoft.com/office/drawing/2014/main" id="{78E12A5D-0E5C-D2E0-A546-B58C99D50BB4}"/>
              </a:ext>
            </a:extLst>
          </p:cNvPr>
          <p:cNvCxnSpPr>
            <a:cxnSpLocks/>
          </p:cNvCxnSpPr>
          <p:nvPr/>
        </p:nvCxnSpPr>
        <p:spPr>
          <a:xfrm>
            <a:off x="1094460" y="3509818"/>
            <a:ext cx="2045904" cy="74814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27" name="Picture 26" descr="A pair of black boots&#10;&#10;AI-generated content may be incorrect.">
            <a:extLst>
              <a:ext uri="{FF2B5EF4-FFF2-40B4-BE49-F238E27FC236}">
                <a16:creationId xmlns:a16="http://schemas.microsoft.com/office/drawing/2014/main" id="{4F7F3F99-F653-A4AC-F04A-F02F8E813A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3272" y="4154691"/>
            <a:ext cx="1006489" cy="816352"/>
          </a:xfrm>
          <a:prstGeom prst="rect">
            <a:avLst/>
          </a:prstGeom>
        </p:spPr>
      </p:pic>
      <p:cxnSp>
        <p:nvCxnSpPr>
          <p:cNvPr id="28" name="Google Shape;148;p2">
            <a:extLst>
              <a:ext uri="{FF2B5EF4-FFF2-40B4-BE49-F238E27FC236}">
                <a16:creationId xmlns:a16="http://schemas.microsoft.com/office/drawing/2014/main" id="{AED5AF03-3F75-DD63-55D4-C1583513FC17}"/>
              </a:ext>
            </a:extLst>
          </p:cNvPr>
          <p:cNvCxnSpPr>
            <a:cxnSpLocks/>
          </p:cNvCxnSpPr>
          <p:nvPr/>
        </p:nvCxnSpPr>
        <p:spPr>
          <a:xfrm>
            <a:off x="1506932" y="4428028"/>
            <a:ext cx="346340" cy="23196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1" name="Google Shape;148;p2">
            <a:extLst>
              <a:ext uri="{FF2B5EF4-FFF2-40B4-BE49-F238E27FC236}">
                <a16:creationId xmlns:a16="http://schemas.microsoft.com/office/drawing/2014/main" id="{8DECDF0A-D00A-FD9C-5F56-4CBF2AF906F8}"/>
              </a:ext>
            </a:extLst>
          </p:cNvPr>
          <p:cNvCxnSpPr>
            <a:cxnSpLocks/>
          </p:cNvCxnSpPr>
          <p:nvPr/>
        </p:nvCxnSpPr>
        <p:spPr>
          <a:xfrm flipV="1">
            <a:off x="2867770" y="4562867"/>
            <a:ext cx="657571" cy="9712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35" name="Picture 34" descr="A group of stars in hair&#10;&#10;AI-generated content may be incorrect.">
            <a:extLst>
              <a:ext uri="{FF2B5EF4-FFF2-40B4-BE49-F238E27FC236}">
                <a16:creationId xmlns:a16="http://schemas.microsoft.com/office/drawing/2014/main" id="{3CB82F9B-1F7A-8431-ECA8-EBB4E77CC4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435" y="1322118"/>
            <a:ext cx="1087743" cy="1198832"/>
          </a:xfrm>
          <a:prstGeom prst="rect">
            <a:avLst/>
          </a:prstGeom>
        </p:spPr>
      </p:pic>
      <p:pic>
        <p:nvPicPr>
          <p:cNvPr id="37" name="Picture 36" descr="A person's hair with stars in her hair&#10;&#10;AI-generated content may be incorrect.">
            <a:extLst>
              <a:ext uri="{FF2B5EF4-FFF2-40B4-BE49-F238E27FC236}">
                <a16:creationId xmlns:a16="http://schemas.microsoft.com/office/drawing/2014/main" id="{3D748CE3-D983-E49B-9AE0-4CC3124FEA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0866" y="1405040"/>
            <a:ext cx="1467070" cy="879030"/>
          </a:xfrm>
          <a:prstGeom prst="rect">
            <a:avLst/>
          </a:prstGeom>
        </p:spPr>
      </p:pic>
      <p:cxnSp>
        <p:nvCxnSpPr>
          <p:cNvPr id="44" name="Google Shape;147;p2">
            <a:extLst>
              <a:ext uri="{FF2B5EF4-FFF2-40B4-BE49-F238E27FC236}">
                <a16:creationId xmlns:a16="http://schemas.microsoft.com/office/drawing/2014/main" id="{86F541F2-123C-10A4-E96F-EB1B97567DDA}"/>
              </a:ext>
            </a:extLst>
          </p:cNvPr>
          <p:cNvCxnSpPr>
            <a:cxnSpLocks/>
          </p:cNvCxnSpPr>
          <p:nvPr/>
        </p:nvCxnSpPr>
        <p:spPr>
          <a:xfrm flipH="1" flipV="1">
            <a:off x="5116945" y="3131127"/>
            <a:ext cx="1653310" cy="98367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48" name="Picture 47" descr="A necklace with flowers on it&#10;&#10;AI-generated content may be incorrect.">
            <a:extLst>
              <a:ext uri="{FF2B5EF4-FFF2-40B4-BE49-F238E27FC236}">
                <a16:creationId xmlns:a16="http://schemas.microsoft.com/office/drawing/2014/main" id="{716FC136-E32D-394D-ABFD-5C207C75E8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7868" y="3760457"/>
            <a:ext cx="1584594" cy="1267034"/>
          </a:xfrm>
          <a:prstGeom prst="rect">
            <a:avLst/>
          </a:prstGeom>
        </p:spPr>
      </p:pic>
      <p:pic>
        <p:nvPicPr>
          <p:cNvPr id="52" name="Picture 51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B6A1D268-4EE6-DF50-1281-6B9D71B3E0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7868" y="2632263"/>
            <a:ext cx="2209804" cy="994727"/>
          </a:xfrm>
          <a:prstGeom prst="rect">
            <a:avLst/>
          </a:prstGeom>
        </p:spPr>
      </p:pic>
      <p:cxnSp>
        <p:nvCxnSpPr>
          <p:cNvPr id="53" name="Google Shape;147;p2">
            <a:extLst>
              <a:ext uri="{FF2B5EF4-FFF2-40B4-BE49-F238E27FC236}">
                <a16:creationId xmlns:a16="http://schemas.microsoft.com/office/drawing/2014/main" id="{8CAC76B0-58FD-FFCE-54C8-5FC8CA60C696}"/>
              </a:ext>
            </a:extLst>
          </p:cNvPr>
          <p:cNvCxnSpPr>
            <a:cxnSpLocks/>
          </p:cNvCxnSpPr>
          <p:nvPr/>
        </p:nvCxnSpPr>
        <p:spPr>
          <a:xfrm flipH="1" flipV="1">
            <a:off x="5470597" y="2165927"/>
            <a:ext cx="1265802" cy="91716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>
            <p:extLst>
              <p:ext uri="{D42A27DB-BD31-4B8C-83A1-F6EECF244321}">
                <p14:modId xmlns:p14="http://schemas.microsoft.com/office/powerpoint/2010/main" val="1507227662"/>
              </p:ext>
            </p:extLst>
          </p:nvPr>
        </p:nvGraphicFramePr>
        <p:xfrm>
          <a:off x="288322" y="828043"/>
          <a:ext cx="8567356" cy="4236055"/>
        </p:xfrm>
        <a:graphic>
          <a:graphicData uri="http://schemas.openxmlformats.org/drawingml/2006/table">
            <a:tbl>
              <a:tblPr bandCol="1">
                <a:tableStyleId>{284E427A-3D55-4303-BF80-6455036E1DE7}</a:tableStyleId>
              </a:tblPr>
              <a:tblGrid>
                <a:gridCol w="2141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1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1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9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Goal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/>
                        <a:t>Ihre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Alpträume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loswerden</a:t>
                      </a:r>
                      <a:r>
                        <a:rPr lang="en-GB" dirty="0"/>
                        <a:t>, </a:t>
                      </a:r>
                      <a:r>
                        <a:rPr lang="en-GB" dirty="0" err="1"/>
                        <a:t>gute</a:t>
                      </a:r>
                      <a:r>
                        <a:rPr lang="en-GB" dirty="0"/>
                        <a:t> Noten </a:t>
                      </a:r>
                      <a:r>
                        <a:rPr lang="en-GB" dirty="0" err="1"/>
                        <a:t>schreiben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 specific personality / Universal Behaviour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Bei </a:t>
                      </a:r>
                      <a:r>
                        <a:rPr lang="en-GB" dirty="0" err="1"/>
                        <a:t>Überstimulation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oder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Versagen</a:t>
                      </a:r>
                      <a:r>
                        <a:rPr lang="en-GB" dirty="0"/>
                        <a:t>  schnell </a:t>
                      </a:r>
                      <a:r>
                        <a:rPr lang="en-GB" dirty="0" err="1"/>
                        <a:t>genervt</a:t>
                      </a:r>
                      <a:r>
                        <a:rPr lang="en-GB" dirty="0"/>
                        <a:t> (snapping)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Flaw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Angst </a:t>
                      </a:r>
                      <a:r>
                        <a:rPr lang="en-GB" dirty="0" err="1"/>
                        <a:t>vor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Ablehnung</a:t>
                      </a:r>
                      <a:r>
                        <a:rPr lang="en-GB" dirty="0"/>
                        <a:t> und </a:t>
                      </a:r>
                      <a:r>
                        <a:rPr lang="en-GB" dirty="0" err="1"/>
                        <a:t>Enttäuschung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Secrets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Der </a:t>
                      </a:r>
                      <a:r>
                        <a:rPr lang="en-GB" dirty="0" err="1"/>
                        <a:t>tatsächliche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Inhalt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ihrer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Alpträume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 dirty="0"/>
                        <a:t>Belonging</a:t>
                      </a:r>
                      <a:endParaRPr sz="1400" b="1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Klasse in </a:t>
                      </a:r>
                      <a:r>
                        <a:rPr lang="en-GB" dirty="0" err="1"/>
                        <a:t>ihrer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Grundschule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Assertiveness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/>
                        <a:t>Zurückhaltend</a:t>
                      </a:r>
                      <a:r>
                        <a:rPr lang="en-GB" dirty="0"/>
                        <a:t>, </a:t>
                      </a:r>
                      <a:r>
                        <a:rPr lang="en-GB" dirty="0" err="1"/>
                        <a:t>passt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sich</a:t>
                      </a:r>
                      <a:r>
                        <a:rPr lang="en-GB" dirty="0"/>
                        <a:t> der </a:t>
                      </a:r>
                      <a:r>
                        <a:rPr lang="en-GB" dirty="0" err="1"/>
                        <a:t>Umgebung</a:t>
                      </a:r>
                      <a:r>
                        <a:rPr lang="en-GB" dirty="0"/>
                        <a:t> an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Believe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Weihnachtsmann, Osterhase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Specific Tastes and professions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/>
                        <a:t>Farbenfrohe</a:t>
                      </a:r>
                      <a:r>
                        <a:rPr lang="en-GB" dirty="0"/>
                        <a:t> Dinge, Sterne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Information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tx1"/>
                          </a:solidFill>
                        </a:rPr>
                        <a:t>Puppy Eyes.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Hurt Them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/>
                        <a:t>Krankheitsdiagnose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ihrer</a:t>
                      </a:r>
                      <a:r>
                        <a:rPr lang="en-GB" dirty="0"/>
                        <a:t> Mutter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9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Special Skill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 u="none" strike="noStrike" cap="none" dirty="0"/>
                        <a:t>Kommuniziert und bonded äußerst gut mit ihren Kaninchen (Haustier)</a:t>
                      </a:r>
                      <a:endParaRPr sz="11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5098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Mila Haas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female</a:t>
            </a:r>
            <a:endParaRPr sz="18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8 yrs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Explorer</a:t>
            </a:r>
            <a:endParaRPr sz="18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Neutral Good</a:t>
            </a:r>
            <a:endParaRPr sz="18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Preschool</a:t>
            </a:r>
            <a:endParaRPr lang="en-DE" sz="1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shortly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Tx/>
              <a:buChar char="-"/>
            </a:pPr>
            <a:r>
              <a:rPr lang="en-GB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junge</a:t>
            </a:r>
            <a:r>
              <a:rPr lang="en-GB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ambitionierte</a:t>
            </a:r>
            <a:r>
              <a:rPr lang="en-GB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Schülerin</a:t>
            </a:r>
            <a:r>
              <a:rPr lang="en-GB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die </a:t>
            </a:r>
            <a:r>
              <a:rPr lang="en-GB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seit</a:t>
            </a:r>
            <a:r>
              <a:rPr lang="en-GB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einiger</a:t>
            </a:r>
            <a:r>
              <a:rPr lang="en-GB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Zeit von </a:t>
            </a:r>
            <a:r>
              <a:rPr lang="en-GB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Alpträumen</a:t>
            </a:r>
            <a:r>
              <a:rPr lang="en-GB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geplagt</a:t>
            </a:r>
            <a:r>
              <a:rPr lang="en-GB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wird</a:t>
            </a:r>
            <a:endParaRPr lang="en-GB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Tx/>
              <a:buChar char="-"/>
            </a:pPr>
            <a:r>
              <a:rPr lang="en-GB" b="1" dirty="0">
                <a:solidFill>
                  <a:schemeClr val="tx1"/>
                </a:solidFill>
              </a:rPr>
              <a:t>Motivation, um </a:t>
            </a:r>
            <a:r>
              <a:rPr lang="en-GB" b="1" dirty="0" err="1">
                <a:solidFill>
                  <a:schemeClr val="tx1"/>
                </a:solidFill>
              </a:rPr>
              <a:t>Alpträume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 err="1">
                <a:solidFill>
                  <a:schemeClr val="tx1"/>
                </a:solidFill>
              </a:rPr>
              <a:t>loszuwerden</a:t>
            </a:r>
            <a:r>
              <a:rPr lang="en-GB" b="1" dirty="0">
                <a:solidFill>
                  <a:schemeClr val="tx1"/>
                </a:solidFill>
              </a:rPr>
              <a:t>:</a:t>
            </a:r>
          </a:p>
          <a:p>
            <a:pPr lvl="1">
              <a:lnSpc>
                <a:spcPct val="115000"/>
              </a:lnSpc>
              <a:spcBef>
                <a:spcPts val="900"/>
              </a:spcBef>
              <a:buClr>
                <a:schemeClr val="dk1"/>
              </a:buClr>
              <a:buSzPts val="800"/>
            </a:pPr>
            <a:r>
              <a:rPr lang="en-GB" b="1" dirty="0">
                <a:solidFill>
                  <a:schemeClr val="tx1"/>
                </a:solidFill>
              </a:rPr>
              <a:t>	Angst </a:t>
            </a:r>
            <a:r>
              <a:rPr lang="en-GB" b="1" dirty="0" err="1">
                <a:solidFill>
                  <a:schemeClr val="tx1"/>
                </a:solidFill>
              </a:rPr>
              <a:t>vor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 err="1">
                <a:solidFill>
                  <a:schemeClr val="tx1"/>
                </a:solidFill>
              </a:rPr>
              <a:t>Träumen</a:t>
            </a:r>
            <a:endParaRPr lang="en-GB" b="1" dirty="0">
              <a:solidFill>
                <a:schemeClr val="tx1"/>
              </a:solidFill>
            </a:endParaRPr>
          </a:p>
          <a:p>
            <a:pPr lvl="1">
              <a:lnSpc>
                <a:spcPct val="115000"/>
              </a:lnSpc>
              <a:spcBef>
                <a:spcPts val="900"/>
              </a:spcBef>
              <a:buClr>
                <a:schemeClr val="dk1"/>
              </a:buClr>
              <a:buSzPts val="800"/>
            </a:pPr>
            <a:r>
              <a:rPr lang="en-GB" b="1" dirty="0">
                <a:solidFill>
                  <a:schemeClr val="tx1"/>
                </a:solidFill>
              </a:rPr>
              <a:t>	Angst </a:t>
            </a:r>
            <a:r>
              <a:rPr lang="en-GB" b="1" dirty="0" err="1">
                <a:solidFill>
                  <a:schemeClr val="tx1"/>
                </a:solidFill>
              </a:rPr>
              <a:t>vor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 err="1">
                <a:solidFill>
                  <a:schemeClr val="tx1"/>
                </a:solidFill>
              </a:rPr>
              <a:t>wenig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 err="1">
                <a:solidFill>
                  <a:schemeClr val="tx1"/>
                </a:solidFill>
              </a:rPr>
              <a:t>Leistungsfähigkeit</a:t>
            </a:r>
            <a:r>
              <a:rPr lang="en-GB" b="1" dirty="0">
                <a:solidFill>
                  <a:schemeClr val="tx1"/>
                </a:solidFill>
              </a:rPr>
              <a:t> (</a:t>
            </a:r>
            <a:r>
              <a:rPr lang="en-GB" b="1" dirty="0" err="1">
                <a:solidFill>
                  <a:schemeClr val="tx1"/>
                </a:solidFill>
              </a:rPr>
              <a:t>schlechte</a:t>
            </a:r>
            <a:r>
              <a:rPr lang="en-GB" b="1" dirty="0">
                <a:solidFill>
                  <a:schemeClr val="tx1"/>
                </a:solidFill>
              </a:rPr>
              <a:t> Noten -&gt; </a:t>
            </a:r>
            <a:r>
              <a:rPr lang="en-GB" b="1" dirty="0" err="1">
                <a:solidFill>
                  <a:schemeClr val="tx1"/>
                </a:solidFill>
              </a:rPr>
              <a:t>möchte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 err="1">
                <a:solidFill>
                  <a:schemeClr val="tx1"/>
                </a:solidFill>
              </a:rPr>
              <a:t>Eltern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 err="1">
                <a:solidFill>
                  <a:schemeClr val="tx1"/>
                </a:solidFill>
              </a:rPr>
              <a:t>keine</a:t>
            </a:r>
            <a:r>
              <a:rPr lang="en-GB" b="1" dirty="0">
                <a:solidFill>
                  <a:schemeClr val="tx1"/>
                </a:solidFill>
              </a:rPr>
              <a:t> Sorgen </a:t>
            </a:r>
            <a:r>
              <a:rPr lang="en-GB" b="1" dirty="0" err="1">
                <a:solidFill>
                  <a:schemeClr val="tx1"/>
                </a:solidFill>
              </a:rPr>
              <a:t>bereiten</a:t>
            </a:r>
            <a:r>
              <a:rPr lang="en-GB" b="1" dirty="0">
                <a:solidFill>
                  <a:schemeClr val="tx1"/>
                </a:solidFill>
              </a:rPr>
              <a:t> 	(da </a:t>
            </a:r>
            <a:r>
              <a:rPr lang="en-GB" b="1" dirty="0" err="1">
                <a:solidFill>
                  <a:schemeClr val="tx1"/>
                </a:solidFill>
              </a:rPr>
              <a:t>Krankheit</a:t>
            </a:r>
            <a:r>
              <a:rPr lang="en-GB" b="1" dirty="0">
                <a:solidFill>
                  <a:schemeClr val="tx1"/>
                </a:solidFill>
              </a:rPr>
              <a:t> von Mutter)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Tx/>
              <a:buChar char="-"/>
            </a:pPr>
            <a:endParaRPr lang="en-GB" sz="18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DE" sz="1800" b="0" i="0" u="none" strike="noStrike" cap="none" dirty="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4983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(see the checklist)</a:t>
            </a:r>
          </a:p>
          <a:p>
            <a:pPr lvl="0">
              <a:lnSpc>
                <a:spcPct val="115000"/>
              </a:lnSpc>
              <a:spcBef>
                <a:spcPts val="900"/>
              </a:spcBef>
              <a:buClr>
                <a:schemeClr val="dk1"/>
              </a:buClr>
              <a:buSzPts val="800"/>
            </a:pPr>
            <a:r>
              <a:rPr lang="en-GB" sz="1800" b="1" dirty="0">
                <a:solidFill>
                  <a:schemeClr val="tx1"/>
                </a:solidFill>
              </a:rPr>
              <a:t>Mila </a:t>
            </a:r>
            <a:r>
              <a:rPr lang="en-GB" sz="1800" b="1" dirty="0" err="1">
                <a:solidFill>
                  <a:schemeClr val="tx1"/>
                </a:solidFill>
              </a:rPr>
              <a:t>ist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eine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junge</a:t>
            </a:r>
            <a:r>
              <a:rPr lang="en-GB" sz="1800" b="1" dirty="0">
                <a:solidFill>
                  <a:schemeClr val="tx1"/>
                </a:solidFill>
              </a:rPr>
              <a:t> und </a:t>
            </a:r>
            <a:r>
              <a:rPr lang="en-GB" sz="1800" b="1" dirty="0" err="1">
                <a:solidFill>
                  <a:schemeClr val="tx1"/>
                </a:solidFill>
              </a:rPr>
              <a:t>ambitionierte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Schülerin</a:t>
            </a:r>
            <a:r>
              <a:rPr lang="en-GB" sz="1800" b="1" dirty="0">
                <a:solidFill>
                  <a:schemeClr val="tx1"/>
                </a:solidFill>
              </a:rPr>
              <a:t>, die </a:t>
            </a:r>
            <a:r>
              <a:rPr lang="en-GB" sz="1800" b="1" dirty="0" err="1">
                <a:solidFill>
                  <a:schemeClr val="tx1"/>
                </a:solidFill>
              </a:rPr>
              <a:t>jedoch</a:t>
            </a:r>
            <a:r>
              <a:rPr lang="en-GB" sz="1800" b="1" dirty="0">
                <a:solidFill>
                  <a:schemeClr val="tx1"/>
                </a:solidFill>
              </a:rPr>
              <a:t> in den </a:t>
            </a:r>
            <a:r>
              <a:rPr lang="en-GB" sz="1800" b="1" dirty="0" err="1">
                <a:solidFill>
                  <a:schemeClr val="tx1"/>
                </a:solidFill>
              </a:rPr>
              <a:t>letzten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Monaten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vermehrt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Alpträume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erlebt</a:t>
            </a:r>
            <a:r>
              <a:rPr lang="en-GB" sz="1800" b="1" dirty="0">
                <a:solidFill>
                  <a:schemeClr val="tx1"/>
                </a:solidFill>
              </a:rPr>
              <a:t>, </a:t>
            </a:r>
            <a:r>
              <a:rPr lang="en-GB" sz="1800" b="1" dirty="0" err="1">
                <a:solidFill>
                  <a:schemeClr val="tx1"/>
                </a:solidFill>
              </a:rPr>
              <a:t>welche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zu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Unsicherheit</a:t>
            </a:r>
            <a:r>
              <a:rPr lang="en-GB" sz="1800" b="1" dirty="0">
                <a:solidFill>
                  <a:schemeClr val="tx1"/>
                </a:solidFill>
              </a:rPr>
              <a:t>, </a:t>
            </a:r>
            <a:r>
              <a:rPr lang="en-GB" sz="1800" b="1" dirty="0" err="1">
                <a:solidFill>
                  <a:schemeClr val="tx1"/>
                </a:solidFill>
              </a:rPr>
              <a:t>Müdigkeit</a:t>
            </a:r>
            <a:r>
              <a:rPr lang="en-GB" sz="1800" b="1" dirty="0">
                <a:solidFill>
                  <a:schemeClr val="tx1"/>
                </a:solidFill>
              </a:rPr>
              <a:t> und </a:t>
            </a:r>
            <a:r>
              <a:rPr lang="en-GB" sz="1800" b="1" dirty="0" err="1">
                <a:solidFill>
                  <a:schemeClr val="tx1"/>
                </a:solidFill>
              </a:rPr>
              <a:t>schlechter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Leistungsfähigkeit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führen</a:t>
            </a:r>
            <a:r>
              <a:rPr lang="en-GB" sz="1800" b="1" dirty="0">
                <a:solidFill>
                  <a:schemeClr val="tx1"/>
                </a:solidFill>
              </a:rPr>
              <a:t>. Sie hat Angst um </a:t>
            </a:r>
            <a:r>
              <a:rPr lang="en-GB" sz="1800" b="1" dirty="0" err="1">
                <a:solidFill>
                  <a:schemeClr val="tx1"/>
                </a:solidFill>
              </a:rPr>
              <a:t>ihre</a:t>
            </a:r>
            <a:r>
              <a:rPr lang="en-GB" sz="1800" b="1" dirty="0">
                <a:solidFill>
                  <a:schemeClr val="tx1"/>
                </a:solidFill>
              </a:rPr>
              <a:t> Noten, </a:t>
            </a:r>
            <a:r>
              <a:rPr lang="en-GB" sz="1800" b="1" dirty="0" err="1">
                <a:solidFill>
                  <a:schemeClr val="tx1"/>
                </a:solidFill>
              </a:rPr>
              <a:t>aber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auch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generelle</a:t>
            </a:r>
            <a:r>
              <a:rPr lang="en-GB" sz="1800" b="1" dirty="0">
                <a:solidFill>
                  <a:schemeClr val="tx1"/>
                </a:solidFill>
              </a:rPr>
              <a:t> Angst </a:t>
            </a:r>
            <a:r>
              <a:rPr lang="en-GB" sz="1800" b="1" dirty="0" err="1">
                <a:solidFill>
                  <a:schemeClr val="tx1"/>
                </a:solidFill>
              </a:rPr>
              <a:t>vor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ihren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Träumen</a:t>
            </a:r>
            <a:r>
              <a:rPr lang="en-GB" sz="1800" b="1" dirty="0">
                <a:solidFill>
                  <a:schemeClr val="tx1"/>
                </a:solidFill>
              </a:rPr>
              <a:t>. </a:t>
            </a:r>
          </a:p>
          <a:p>
            <a:pPr lvl="0">
              <a:lnSpc>
                <a:spcPct val="115000"/>
              </a:lnSpc>
              <a:spcBef>
                <a:spcPts val="900"/>
              </a:spcBef>
              <a:buClr>
                <a:schemeClr val="dk1"/>
              </a:buClr>
              <a:buSzPts val="800"/>
            </a:pPr>
            <a:r>
              <a:rPr lang="en-GB" sz="1800" b="1" dirty="0">
                <a:solidFill>
                  <a:schemeClr val="tx1"/>
                </a:solidFill>
              </a:rPr>
              <a:t>Mila </a:t>
            </a:r>
            <a:r>
              <a:rPr lang="en-GB" sz="1800" b="1" dirty="0" err="1">
                <a:solidFill>
                  <a:schemeClr val="tx1"/>
                </a:solidFill>
              </a:rPr>
              <a:t>möchte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ihre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Eltern</a:t>
            </a:r>
            <a:r>
              <a:rPr lang="en-GB" sz="1800" b="1" dirty="0">
                <a:solidFill>
                  <a:schemeClr val="tx1"/>
                </a:solidFill>
              </a:rPr>
              <a:t> nicht </a:t>
            </a:r>
            <a:r>
              <a:rPr lang="en-GB" sz="1800" b="1" dirty="0" err="1">
                <a:solidFill>
                  <a:schemeClr val="tx1"/>
                </a:solidFill>
              </a:rPr>
              <a:t>enttäuschen</a:t>
            </a:r>
            <a:r>
              <a:rPr lang="en-GB" sz="1800" b="1" dirty="0">
                <a:solidFill>
                  <a:schemeClr val="tx1"/>
                </a:solidFill>
              </a:rPr>
              <a:t>, da </a:t>
            </a:r>
            <a:r>
              <a:rPr lang="en-GB" sz="1800" b="1" dirty="0" err="1">
                <a:solidFill>
                  <a:schemeClr val="tx1"/>
                </a:solidFill>
              </a:rPr>
              <a:t>diese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schon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genug</a:t>
            </a:r>
            <a:r>
              <a:rPr lang="en-GB" sz="1800" b="1" dirty="0">
                <a:solidFill>
                  <a:schemeClr val="tx1"/>
                </a:solidFill>
              </a:rPr>
              <a:t> Sorgen </a:t>
            </a:r>
            <a:r>
              <a:rPr lang="en-GB" sz="1800" b="1" dirty="0" err="1">
                <a:solidFill>
                  <a:schemeClr val="tx1"/>
                </a:solidFill>
              </a:rPr>
              <a:t>haben</a:t>
            </a:r>
            <a:r>
              <a:rPr lang="en-GB" sz="1800" b="1" dirty="0">
                <a:solidFill>
                  <a:schemeClr val="tx1"/>
                </a:solidFill>
              </a:rPr>
              <a:t>, </a:t>
            </a:r>
            <a:r>
              <a:rPr lang="en-GB" sz="1800" b="1" dirty="0" err="1">
                <a:solidFill>
                  <a:schemeClr val="tx1"/>
                </a:solidFill>
              </a:rPr>
              <a:t>seit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ihre</a:t>
            </a:r>
            <a:r>
              <a:rPr lang="en-GB" sz="1800" b="1" dirty="0">
                <a:solidFill>
                  <a:schemeClr val="tx1"/>
                </a:solidFill>
              </a:rPr>
              <a:t> Mutter </a:t>
            </a:r>
            <a:r>
              <a:rPr lang="en-GB" sz="1800" b="1" dirty="0" err="1">
                <a:solidFill>
                  <a:schemeClr val="tx1"/>
                </a:solidFill>
              </a:rPr>
              <a:t>mit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einer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schweren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Krankheit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diagnostiziert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wurde</a:t>
            </a:r>
            <a:r>
              <a:rPr lang="en-GB" sz="1800" b="1" dirty="0">
                <a:solidFill>
                  <a:schemeClr val="tx1"/>
                </a:solidFill>
              </a:rPr>
              <a:t>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0" i="0" u="none" strike="noStrike" cap="none" dirty="0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6"/>
          <p:cNvGraphicFramePr/>
          <p:nvPr>
            <p:extLst>
              <p:ext uri="{D42A27DB-BD31-4B8C-83A1-F6EECF244321}">
                <p14:modId xmlns:p14="http://schemas.microsoft.com/office/powerpoint/2010/main" val="1391958761"/>
              </p:ext>
            </p:extLst>
          </p:nvPr>
        </p:nvGraphicFramePr>
        <p:xfrm>
          <a:off x="35626" y="50514"/>
          <a:ext cx="9108375" cy="5734701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before treatment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“Ich </a:t>
                      </a:r>
                      <a:r>
                        <a:rPr lang="en-GB" sz="1100" u="none" strike="noStrike" cap="none" dirty="0" err="1"/>
                        <a:t>hoffe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ihr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könnt</a:t>
                      </a:r>
                      <a:r>
                        <a:rPr lang="en-GB" sz="1100" u="none" strike="noStrike" cap="none" dirty="0"/>
                        <a:t> mir </a:t>
                      </a:r>
                      <a:r>
                        <a:rPr lang="en-GB" sz="1100" u="none" strike="noStrike" cap="none" dirty="0" err="1"/>
                        <a:t>helfen</a:t>
                      </a:r>
                      <a:r>
                        <a:rPr lang="en-GB" sz="1100" u="none" strike="noStrike" cap="none" dirty="0"/>
                        <a:t>…”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“…</a:t>
                      </a:r>
                      <a:r>
                        <a:rPr lang="en-GB" sz="1100" u="none" strike="noStrike" cap="none" dirty="0" err="1"/>
                        <a:t>aber</a:t>
                      </a:r>
                      <a:r>
                        <a:rPr lang="en-GB" sz="1100" u="none" strike="noStrike" cap="none" dirty="0"/>
                        <a:t> was </a:t>
                      </a:r>
                      <a:r>
                        <a:rPr lang="en-GB" sz="1100" u="none" strike="noStrike" cap="none" dirty="0" err="1"/>
                        <a:t>wenn</a:t>
                      </a:r>
                      <a:r>
                        <a:rPr lang="en-GB" sz="1100" u="none" strike="noStrike" cap="none" dirty="0"/>
                        <a:t> es nicht </a:t>
                      </a:r>
                      <a:r>
                        <a:rPr lang="en-GB" sz="1100" u="none" strike="noStrike" cap="none" dirty="0" err="1"/>
                        <a:t>klappt</a:t>
                      </a:r>
                      <a:r>
                        <a:rPr lang="en-GB" sz="1100" u="none" strike="noStrike" cap="none" dirty="0"/>
                        <a:t>?”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“</a:t>
                      </a:r>
                      <a:r>
                        <a:rPr lang="en-GB" sz="1100" u="none" strike="noStrike" cap="none" dirty="0" err="1"/>
                        <a:t>Funktioniert</a:t>
                      </a:r>
                      <a:r>
                        <a:rPr lang="en-GB" sz="1100" u="none" strike="noStrike" cap="none" dirty="0"/>
                        <a:t> das </a:t>
                      </a:r>
                      <a:r>
                        <a:rPr lang="en-GB" sz="1100" u="none" strike="noStrike" cap="none" dirty="0" err="1"/>
                        <a:t>überhaupt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bei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Alpträumen</a:t>
                      </a:r>
                      <a:r>
                        <a:rPr lang="en-GB" sz="1100" u="none" strike="noStrike" cap="none" dirty="0"/>
                        <a:t>?”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success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“Puh, das hat </a:t>
                      </a:r>
                      <a:r>
                        <a:rPr lang="en-GB" sz="1100" u="none" strike="noStrike" cap="none" dirty="0" err="1"/>
                        <a:t>echt</a:t>
                      </a:r>
                      <a:r>
                        <a:rPr lang="en-GB" sz="1100" u="none" strike="noStrike" cap="none" dirty="0"/>
                        <a:t> gut </a:t>
                      </a:r>
                      <a:r>
                        <a:rPr lang="en-GB" sz="1100" u="none" strike="noStrike" cap="none" dirty="0" err="1"/>
                        <a:t>getan</a:t>
                      </a:r>
                      <a:r>
                        <a:rPr lang="en-GB" sz="1100" u="none" strike="noStrike" cap="none" dirty="0"/>
                        <a:t>.”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“Ich muss das </a:t>
                      </a:r>
                      <a:r>
                        <a:rPr lang="en-GB" sz="1100" u="none" strike="noStrike" cap="none" dirty="0" err="1"/>
                        <a:t>öfter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machen</a:t>
                      </a:r>
                      <a:r>
                        <a:rPr lang="en-GB" sz="1100" u="none" strike="noStrike" cap="none" dirty="0"/>
                        <a:t>, </a:t>
                      </a:r>
                      <a:r>
                        <a:rPr lang="en-GB" sz="1100" u="none" strike="noStrike" cap="none" dirty="0" err="1"/>
                        <a:t>dann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werde</a:t>
                      </a:r>
                      <a:r>
                        <a:rPr lang="en-GB" sz="1100" u="none" strike="noStrike" cap="none" dirty="0"/>
                        <a:t> ich </a:t>
                      </a:r>
                      <a:r>
                        <a:rPr lang="en-GB" sz="1100" u="none" strike="noStrike" cap="none" dirty="0" err="1"/>
                        <a:t>bestimmt</a:t>
                      </a:r>
                      <a:r>
                        <a:rPr lang="en-GB" sz="1100" u="none" strike="noStrike" cap="none" dirty="0"/>
                        <a:t> stark </a:t>
                      </a:r>
                      <a:r>
                        <a:rPr lang="en-GB" sz="1100" u="none" strike="noStrike" cap="none" dirty="0" err="1"/>
                        <a:t>genug</a:t>
                      </a:r>
                      <a:r>
                        <a:rPr lang="en-GB" sz="1100" u="none" strike="noStrike" cap="none" dirty="0"/>
                        <a:t>!”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9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“Das war cool! Ich </a:t>
                      </a:r>
                      <a:r>
                        <a:rPr lang="en-GB" sz="1100" u="none" strike="noStrike" cap="none" dirty="0" err="1"/>
                        <a:t>hoffe</a:t>
                      </a:r>
                      <a:r>
                        <a:rPr lang="en-GB" sz="1100" u="none" strike="noStrike" cap="none" dirty="0"/>
                        <a:t>, ich </a:t>
                      </a:r>
                      <a:r>
                        <a:rPr lang="en-GB" sz="1100" u="none" strike="noStrike" cap="none" dirty="0" err="1"/>
                        <a:t>kann</a:t>
                      </a:r>
                      <a:r>
                        <a:rPr lang="en-GB" sz="1100" u="none" strike="noStrike" cap="none" dirty="0"/>
                        <a:t> mal </a:t>
                      </a:r>
                      <a:r>
                        <a:rPr lang="en-GB" sz="1100" u="none" strike="noStrike" cap="none" dirty="0" err="1"/>
                        <a:t>wiederkommen</a:t>
                      </a:r>
                      <a:r>
                        <a:rPr lang="en-GB" sz="1100" u="none" strike="noStrike" cap="none" dirty="0"/>
                        <a:t>”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fail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strike="noStrike" cap="none" dirty="0"/>
                        <a:t>“Ich </a:t>
                      </a:r>
                      <a:r>
                        <a:rPr lang="en-GB" sz="900" u="none" strike="noStrike" cap="none" dirty="0" err="1"/>
                        <a:t>hätte</a:t>
                      </a:r>
                      <a:r>
                        <a:rPr lang="en-GB" sz="900" u="none" strike="noStrike" cap="none" dirty="0"/>
                        <a:t> nicht an die </a:t>
                      </a:r>
                      <a:r>
                        <a:rPr lang="en-GB" sz="900" u="none" strike="noStrike" cap="none" dirty="0" err="1"/>
                        <a:t>Wirkung</a:t>
                      </a:r>
                      <a:r>
                        <a:rPr lang="en-GB" sz="900" u="none" strike="noStrike" cap="none" dirty="0"/>
                        <a:t> </a:t>
                      </a:r>
                      <a:r>
                        <a:rPr lang="en-GB" sz="900" u="none" strike="noStrike" cap="none" dirty="0" err="1"/>
                        <a:t>glauben</a:t>
                      </a:r>
                      <a:r>
                        <a:rPr lang="en-GB" sz="900" u="none" strike="noStrike" cap="none" dirty="0"/>
                        <a:t>  </a:t>
                      </a:r>
                      <a:r>
                        <a:rPr lang="en-GB" sz="900" u="none" strike="noStrike" cap="none" dirty="0" err="1"/>
                        <a:t>sollen</a:t>
                      </a:r>
                      <a:r>
                        <a:rPr lang="en-GB" sz="900" u="none" strike="noStrike" cap="none" dirty="0"/>
                        <a:t>”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strike="noStrike" cap="none" dirty="0"/>
                        <a:t>“Mein Vater </a:t>
                      </a:r>
                      <a:r>
                        <a:rPr lang="en-GB" sz="900" u="none" strike="noStrike" cap="none" dirty="0" err="1"/>
                        <a:t>schreibt</a:t>
                      </a:r>
                      <a:r>
                        <a:rPr lang="en-GB" sz="900" u="none" strike="noStrike" cap="none" dirty="0"/>
                        <a:t> </a:t>
                      </a:r>
                      <a:r>
                        <a:rPr lang="en-GB" sz="900" u="none" strike="noStrike" cap="none" dirty="0" err="1"/>
                        <a:t>euch</a:t>
                      </a:r>
                      <a:r>
                        <a:rPr lang="en-GB" sz="900" u="none" strike="noStrike" cap="none" dirty="0"/>
                        <a:t> </a:t>
                      </a:r>
                      <a:r>
                        <a:rPr lang="en-GB" sz="900" u="none" strike="noStrike" cap="none" dirty="0" err="1"/>
                        <a:t>eine</a:t>
                      </a:r>
                      <a:r>
                        <a:rPr lang="en-GB" sz="900" u="none" strike="noStrike" cap="none" dirty="0"/>
                        <a:t> 1-Sterne </a:t>
                      </a:r>
                      <a:r>
                        <a:rPr lang="en-GB" sz="900" u="none" strike="noStrike" cap="none" dirty="0" err="1"/>
                        <a:t>Rezension</a:t>
                      </a:r>
                      <a:r>
                        <a:rPr lang="en-GB" sz="900" u="none" strike="noStrike" cap="none" dirty="0"/>
                        <a:t>!”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strike="noStrike" cap="none" dirty="0"/>
                        <a:t>“Ich muss mir </a:t>
                      </a:r>
                      <a:r>
                        <a:rPr lang="en-GB" sz="900" u="none" strike="noStrike" cap="none" dirty="0" err="1"/>
                        <a:t>wohl</a:t>
                      </a:r>
                      <a:r>
                        <a:rPr lang="en-GB" sz="900" u="none" strike="noStrike" cap="none" dirty="0"/>
                        <a:t> was </a:t>
                      </a:r>
                      <a:r>
                        <a:rPr lang="en-GB" sz="900" u="none" strike="noStrike" cap="none" dirty="0" err="1"/>
                        <a:t>anderes</a:t>
                      </a:r>
                      <a:r>
                        <a:rPr lang="en-GB" sz="900" u="none" strike="noStrike" cap="none" dirty="0"/>
                        <a:t> </a:t>
                      </a:r>
                      <a:r>
                        <a:rPr lang="en-GB" sz="900" u="none" strike="noStrike" cap="none" dirty="0" err="1"/>
                        <a:t>überlegen</a:t>
                      </a:r>
                      <a:r>
                        <a:rPr lang="en-GB" sz="900" u="none" strike="noStrike" cap="none" dirty="0"/>
                        <a:t>…”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504</Words>
  <Application>Microsoft Office PowerPoint</Application>
  <PresentationFormat>On-screen Show (16:9)</PresentationFormat>
  <Paragraphs>88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Montserrat</vt:lpstr>
      <vt:lpstr>Montserrat ExtraBold</vt:lpstr>
      <vt:lpstr>Calibri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Rika Brenner</dc:creator>
  <cp:lastModifiedBy>Brenner, Rika (Stud SRH-University)</cp:lastModifiedBy>
  <cp:revision>4</cp:revision>
  <dcterms:modified xsi:type="dcterms:W3CDTF">2026-01-31T14:09:17Z</dcterms:modified>
</cp:coreProperties>
</file>