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2" r:id="rId7"/>
    <p:sldId id="263" r:id="rId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0"/>
      <p:bold r:id="rId11"/>
      <p:italic r:id="rId12"/>
      <p:boldItalic r:id="rId13"/>
    </p:embeddedFont>
    <p:embeddedFont>
      <p:font typeface="Montserrat ExtraBold" panose="00000900000000000000" pitchFamily="2" charset="0"/>
      <p:bold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jTz30nbRXKs5E3vrOIH3TGAJAR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2E3274-4D5C-44BF-BB08-FA6336CB3DAF}">
  <a:tblStyle styleId="{692E3274-4D5C-44BF-BB08-FA6336CB3DAF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799" autoAdjust="0"/>
  </p:normalViewPr>
  <p:slideViewPr>
    <p:cSldViewPr snapToGrid="0">
      <p:cViewPr varScale="1">
        <p:scale>
          <a:sx n="135" d="100"/>
          <a:sy n="135" d="100"/>
        </p:scale>
        <p:origin x="380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23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636e5de4b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3b636e5de4b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/>
              <a:t>20 minutes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/>
              <a:t>Remember, when you are done your first draft. YOU ARE NOT DONE.  COUNT YOUR WORDS, if you are over 20 or under 3 in any line of dialogue you must edit your own text to make it fit or expand on the world lore or to make the character speaking sound unique.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 dirty="0"/>
              <a:t>20 minutes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 dirty="0"/>
              <a:t>Remember, when you are done your first draft. YOU ARE NOT DONE.  COUNT YOUR WORDS, if you are over 20 or under 3 in any line of dialogue you must edit your own text to make it fit or expand on the world lore or to make the character speaking sound unique. 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endParaRPr/>
          </a:p>
        </p:txBody>
      </p:sp>
      <p:sp>
        <p:nvSpPr>
          <p:cNvPr id="68" name="Google Shape;68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3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8" name="Google Shape;78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8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39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3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0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0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5" name="Google Shape;95;p40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40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7" name="Google Shape;97;p40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42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9" name="Google Shape;109;p4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4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43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4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7" name="Google Shape;117;p4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4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4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4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4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4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5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45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4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2"/>
          <p:cNvGrpSpPr/>
          <p:nvPr/>
        </p:nvGrpSpPr>
        <p:grpSpPr>
          <a:xfrm>
            <a:off x="275" y="-1900"/>
            <a:ext cx="4420723" cy="779452"/>
            <a:chOff x="0" y="214638"/>
            <a:chExt cx="3107932" cy="815582"/>
          </a:xfrm>
        </p:grpSpPr>
        <p:grpSp>
          <p:nvGrpSpPr>
            <p:cNvPr id="150" name="Google Shape;150;p2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51" name="Google Shape;151;p2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53" name="Google Shape;153;p2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54" name="Google Shape;154;p2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56" name="Google Shape;156;p2"/>
          <p:cNvSpPr txBox="1"/>
          <p:nvPr/>
        </p:nvSpPr>
        <p:spPr>
          <a:xfrm flipH="1">
            <a:off x="12525" y="-82550"/>
            <a:ext cx="40908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>
              <a:lnSpc>
                <a:spcPct val="115000"/>
              </a:lnSpc>
              <a:buClr>
                <a:schemeClr val="lt1"/>
              </a:buClr>
              <a:buSzPts val="1800"/>
            </a:pPr>
            <a:r>
              <a:rPr lang="de-DE" sz="18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Degoutant</a:t>
            </a:r>
          </a:p>
          <a:p>
            <a:pPr lvl="0">
              <a:lnSpc>
                <a:spcPct val="115000"/>
              </a:lnSpc>
              <a:buClr>
                <a:schemeClr val="lt1"/>
              </a:buClr>
              <a:buSzPts val="1800"/>
            </a:pPr>
            <a:r>
              <a:rPr lang="de" sz="1800" b="0" i="0" u="none" strike="noStrike" cap="none" dirty="0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Disgust Mask</a:t>
            </a:r>
            <a:endParaRPr sz="1700" b="0" i="0" u="none" strike="noStrike" cap="none" dirty="0">
              <a:solidFill>
                <a:srgbClr val="FF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D09466C-31F3-9765-F317-2A66CC599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7481" y="1275906"/>
            <a:ext cx="2291783" cy="3055710"/>
          </a:xfrm>
          <a:prstGeom prst="rect">
            <a:avLst/>
          </a:prstGeom>
        </p:spPr>
      </p:pic>
      <p:sp>
        <p:nvSpPr>
          <p:cNvPr id="6" name="Kreuz 5">
            <a:extLst>
              <a:ext uri="{FF2B5EF4-FFF2-40B4-BE49-F238E27FC236}">
                <a16:creationId xmlns:a16="http://schemas.microsoft.com/office/drawing/2014/main" id="{5553A6AF-5654-F969-5265-A3A5C450B311}"/>
              </a:ext>
            </a:extLst>
          </p:cNvPr>
          <p:cNvSpPr/>
          <p:nvPr/>
        </p:nvSpPr>
        <p:spPr>
          <a:xfrm>
            <a:off x="1924443" y="2473465"/>
            <a:ext cx="676102" cy="659477"/>
          </a:xfrm>
          <a:prstGeom prst="plus">
            <a:avLst>
              <a:gd name="adj" fmla="val 3858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90F601B-A505-4CC6-BE6B-625C9CC49B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7" y="1922142"/>
            <a:ext cx="1743075" cy="176212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825BDCD1-8C45-E71C-2F52-2403EC1144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1943" y="1233049"/>
            <a:ext cx="2355228" cy="3140304"/>
          </a:xfrm>
          <a:prstGeom prst="rect">
            <a:avLst/>
          </a:prstGeom>
        </p:spPr>
      </p:pic>
      <p:sp>
        <p:nvSpPr>
          <p:cNvPr id="11" name="Kreuz 10">
            <a:extLst>
              <a:ext uri="{FF2B5EF4-FFF2-40B4-BE49-F238E27FC236}">
                <a16:creationId xmlns:a16="http://schemas.microsoft.com/office/drawing/2014/main" id="{BC8A0550-5A7A-DC78-16E0-04456C7F8A99}"/>
              </a:ext>
            </a:extLst>
          </p:cNvPr>
          <p:cNvSpPr/>
          <p:nvPr/>
        </p:nvSpPr>
        <p:spPr>
          <a:xfrm>
            <a:off x="5206200" y="2473463"/>
            <a:ext cx="676102" cy="659477"/>
          </a:xfrm>
          <a:prstGeom prst="plus">
            <a:avLst>
              <a:gd name="adj" fmla="val 3858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A1E361D-97C4-C59D-9ACE-DD451B13D823}"/>
              </a:ext>
            </a:extLst>
          </p:cNvPr>
          <p:cNvSpPr txBox="1"/>
          <p:nvPr/>
        </p:nvSpPr>
        <p:spPr>
          <a:xfrm>
            <a:off x="65987" y="3684267"/>
            <a:ext cx="17430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Vibe/Style (wachs-artig und etwas flüssig)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FC948F3-16D7-E6FE-5F47-42ED5DD1D4DD}"/>
              </a:ext>
            </a:extLst>
          </p:cNvPr>
          <p:cNvSpPr txBox="1"/>
          <p:nvPr/>
        </p:nvSpPr>
        <p:spPr>
          <a:xfrm>
            <a:off x="2598680" y="4331616"/>
            <a:ext cx="2653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Frontale Shape (Schnabel muss nicht ganz so lang sein)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D8A4EDA-1A0E-317A-1BB1-239E10D28EB8}"/>
              </a:ext>
            </a:extLst>
          </p:cNvPr>
          <p:cNvSpPr txBox="1"/>
          <p:nvPr/>
        </p:nvSpPr>
        <p:spPr>
          <a:xfrm>
            <a:off x="5132895" y="4373353"/>
            <a:ext cx="40111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Referenz für asymmetrische Augenform (obere Augenlöcher dieser Maske; die Pestdoktormaske hat nur </a:t>
            </a:r>
            <a:r>
              <a:rPr lang="de-DE" b="1" i="1" dirty="0"/>
              <a:t>ein </a:t>
            </a:r>
            <a:r>
              <a:rPr lang="de-DE" dirty="0"/>
              <a:t>Paar Augenlöcher)</a:t>
            </a:r>
            <a:endParaRPr lang="de-DE" b="1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g3b636e5de4b_0_32"/>
          <p:cNvGrpSpPr/>
          <p:nvPr/>
        </p:nvGrpSpPr>
        <p:grpSpPr>
          <a:xfrm>
            <a:off x="274" y="-1897"/>
            <a:ext cx="3491140" cy="779452"/>
            <a:chOff x="0" y="214638"/>
            <a:chExt cx="3107932" cy="815582"/>
          </a:xfrm>
        </p:grpSpPr>
        <p:grpSp>
          <p:nvGrpSpPr>
            <p:cNvPr id="162" name="Google Shape;162;g3b636e5de4b_0_32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63" name="Google Shape;163;g3b636e5de4b_0_32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4" name="Google Shape;164;g3b636e5de4b_0_32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65" name="Google Shape;165;g3b636e5de4b_0_32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66" name="Google Shape;166;g3b636e5de4b_0_32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7" name="Google Shape;167;g3b636e5de4b_0_32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68" name="Google Shape;168;g3b636e5de4b_0_32"/>
          <p:cNvSpPr txBox="1"/>
          <p:nvPr/>
        </p:nvSpPr>
        <p:spPr>
          <a:xfrm flipH="1">
            <a:off x="12825" y="-82556"/>
            <a:ext cx="37554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Checklist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9" name="Google Shape;169;g3b636e5de4b_0_32"/>
          <p:cNvGraphicFramePr/>
          <p:nvPr/>
        </p:nvGraphicFramePr>
        <p:xfrm>
          <a:off x="21850" y="851289"/>
          <a:ext cx="9080600" cy="4974750"/>
        </p:xfrm>
        <a:graphic>
          <a:graphicData uri="http://schemas.openxmlformats.org/drawingml/2006/table">
            <a:tbl>
              <a:tblPr bandCol="1">
                <a:noFill/>
                <a:tableStyleId>{692E3274-4D5C-44BF-BB08-FA6336CB3DAF}</a:tableStyleId>
              </a:tblPr>
              <a:tblGrid>
                <a:gridCol w="227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Goal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Why do they do, what they do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A specific personality / Universal Behaviour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What makes them different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Flaw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something negative about them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Secrets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Something mysterious about them (can be silly)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Belonging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Which group do they belong too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Assertiveness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How does he present himself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Believe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In what do they believe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Specific Tastes and professions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What do they prefer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Information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How does he enrich the world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Hurt Them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The most hurtful situation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Special Skill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100"/>
                        <a:t>Give them a cool but very dumb quirk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"/>
          <p:cNvSpPr txBox="1"/>
          <p:nvPr/>
        </p:nvSpPr>
        <p:spPr>
          <a:xfrm>
            <a:off x="22124" y="703635"/>
            <a:ext cx="91221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Name: 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Gender: 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Age: 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Personality: 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Alignment: 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Occupation: </a:t>
            </a: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Describe the past, the what and the now shortly</a:t>
            </a: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3"/>
          <p:cNvGrpSpPr/>
          <p:nvPr/>
        </p:nvGrpSpPr>
        <p:grpSpPr>
          <a:xfrm>
            <a:off x="274" y="-1897"/>
            <a:ext cx="3491140" cy="779452"/>
            <a:chOff x="0" y="214638"/>
            <a:chExt cx="3107932" cy="815582"/>
          </a:xfrm>
        </p:grpSpPr>
        <p:grpSp>
          <p:nvGrpSpPr>
            <p:cNvPr id="176" name="Google Shape;176;p3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77" name="Google Shape;177;p3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78" name="Google Shape;178;p3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79" name="Google Shape;179;p3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80" name="Google Shape;180;p3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1" name="Google Shape;181;p3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82" name="Google Shape;182;p3"/>
          <p:cNvSpPr txBox="1"/>
          <p:nvPr/>
        </p:nvSpPr>
        <p:spPr>
          <a:xfrm flipH="1">
            <a:off x="12825" y="-82556"/>
            <a:ext cx="37554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Bio (short)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"/>
          <p:cNvSpPr txBox="1"/>
          <p:nvPr/>
        </p:nvSpPr>
        <p:spPr>
          <a:xfrm>
            <a:off x="22124" y="703635"/>
            <a:ext cx="9122100" cy="3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Describe the past, the what and the now (see the checklist)</a:t>
            </a: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200" b="0" i="0" u="none" strike="noStrike" cap="none">
              <a:solidFill>
                <a:srgbClr val="24242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2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1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" name="Google Shape;188;p4"/>
          <p:cNvGrpSpPr/>
          <p:nvPr/>
        </p:nvGrpSpPr>
        <p:grpSpPr>
          <a:xfrm>
            <a:off x="274" y="-1897"/>
            <a:ext cx="3894239" cy="779452"/>
            <a:chOff x="0" y="214638"/>
            <a:chExt cx="3107932" cy="815582"/>
          </a:xfrm>
        </p:grpSpPr>
        <p:grpSp>
          <p:nvGrpSpPr>
            <p:cNvPr id="189" name="Google Shape;189;p4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90" name="Google Shape;190;p4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1" name="Google Shape;191;p4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92" name="Google Shape;192;p4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93" name="Google Shape;193;p4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4" name="Google Shape;194;p4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95" name="Google Shape;195;p4"/>
          <p:cNvSpPr txBox="1"/>
          <p:nvPr/>
        </p:nvSpPr>
        <p:spPr>
          <a:xfrm flipH="1">
            <a:off x="12896" y="-82558"/>
            <a:ext cx="38055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Bio (Long)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7" name="Google Shape;237;p6"/>
          <p:cNvGraphicFramePr/>
          <p:nvPr/>
        </p:nvGraphicFramePr>
        <p:xfrm>
          <a:off x="35626" y="50514"/>
          <a:ext cx="9108375" cy="5521740"/>
        </p:xfrm>
        <a:graphic>
          <a:graphicData uri="http://schemas.openxmlformats.org/drawingml/2006/table">
            <a:tbl>
              <a:tblPr firstRow="1" bandRow="1">
                <a:noFill/>
                <a:tableStyleId>{692E3274-4D5C-44BF-BB08-FA6336CB3DAF}</a:tableStyleId>
              </a:tblPr>
              <a:tblGrid>
                <a:gridCol w="129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>
                          <a:solidFill>
                            <a:schemeClr val="dk1"/>
                          </a:solidFill>
                        </a:rPr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v01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>
                          <a:solidFill>
                            <a:schemeClr val="dk1"/>
                          </a:solidFill>
                        </a:rPr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v01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v01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19283B3-1105-CB21-93A2-24081C7A5465}"/>
              </a:ext>
            </a:extLst>
          </p:cNvPr>
          <p:cNvSpPr/>
          <p:nvPr/>
        </p:nvSpPr>
        <p:spPr>
          <a:xfrm>
            <a:off x="-431800" y="4963160"/>
            <a:ext cx="10520680" cy="1041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242" name="Google Shape;242;p7"/>
          <p:cNvGraphicFramePr/>
          <p:nvPr>
            <p:extLst>
              <p:ext uri="{D42A27DB-BD31-4B8C-83A1-F6EECF244321}">
                <p14:modId xmlns:p14="http://schemas.microsoft.com/office/powerpoint/2010/main" val="883560380"/>
              </p:ext>
            </p:extLst>
          </p:nvPr>
        </p:nvGraphicFramePr>
        <p:xfrm>
          <a:off x="1" y="0"/>
          <a:ext cx="9088119" cy="5463960"/>
        </p:xfrm>
        <a:graphic>
          <a:graphicData uri="http://schemas.openxmlformats.org/drawingml/2006/table">
            <a:tbl>
              <a:tblPr firstRow="1" bandRow="1">
                <a:noFill/>
                <a:tableStyleId>{692E3274-4D5C-44BF-BB08-FA6336CB3DAF}</a:tableStyleId>
              </a:tblPr>
              <a:tblGrid>
                <a:gridCol w="1299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0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8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6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 dirty="0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dirty="0">
                          <a:solidFill>
                            <a:schemeClr val="dk1"/>
                          </a:solidFill>
                        </a:rPr>
                        <a:t>Vorher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 dirty="0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dirty="0">
                          <a:solidFill>
                            <a:schemeClr val="dk1"/>
                          </a:solidFill>
                        </a:rPr>
                        <a:t>Situation </a:t>
                      </a:r>
                      <a:r>
                        <a:rPr lang="de" sz="1100" b="1" u="none" strike="noStrike" cap="none" dirty="0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6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 dirty="0">
                          <a:solidFill>
                            <a:schemeClr val="dk1"/>
                          </a:solidFill>
                        </a:rPr>
                        <a:t>DIALOGUE BARK – Nach Richtiger Mask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6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 dirty="0">
                          <a:solidFill>
                            <a:schemeClr val="dk1"/>
                          </a:solidFill>
                        </a:rPr>
                        <a:t>DIALOGUE BARK –  </a:t>
                      </a:r>
                      <a:r>
                        <a:rPr lang="de" sz="1100" b="1" dirty="0"/>
                        <a:t>nach falscher mask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43" name="Google Shape;243;p7"/>
          <p:cNvSpPr txBox="1"/>
          <p:nvPr/>
        </p:nvSpPr>
        <p:spPr>
          <a:xfrm>
            <a:off x="-248920" y="-2001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d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</Words>
  <Application>Microsoft Office PowerPoint</Application>
  <PresentationFormat>Bildschirmpräsentation (16:9)</PresentationFormat>
  <Paragraphs>111</Paragraphs>
  <Slides>6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6</vt:i4>
      </vt:variant>
    </vt:vector>
  </HeadingPairs>
  <TitlesOfParts>
    <vt:vector size="12" baseType="lpstr">
      <vt:lpstr>Calibri</vt:lpstr>
      <vt:lpstr>Montserrat ExtraBold</vt:lpstr>
      <vt:lpstr>Arial</vt:lpstr>
      <vt:lpstr>Montserrat</vt:lpstr>
      <vt:lpstr>Simple Light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Hever, Jonas (Stud SRH-University)</cp:lastModifiedBy>
  <cp:revision>2</cp:revision>
  <dcterms:modified xsi:type="dcterms:W3CDTF">2026-01-30T22:04:54Z</dcterms:modified>
</cp:coreProperties>
</file>