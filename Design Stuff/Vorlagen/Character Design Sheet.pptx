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2" r:id="rId7"/>
    <p:sldId id="263" r:id="rId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ExtraBold" panose="00000900000000000000" pitchFamily="2" charset="0"/>
      <p:bold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jTz30nbRXKs5E3vrOIH3TGAJAR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2E3274-4D5C-44BF-BB08-FA6336CB3DAF}">
  <a:tblStyle styleId="{692E3274-4D5C-44BF-BB08-FA6336CB3DA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99" autoAdjust="0"/>
  </p:normalViewPr>
  <p:slideViewPr>
    <p:cSldViewPr snapToGrid="0">
      <p:cViewPr>
        <p:scale>
          <a:sx n="125" d="100"/>
          <a:sy n="125" d="100"/>
        </p:scale>
        <p:origin x="500" y="-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6.fntdata"/><Relationship Id="rId23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36e5de4b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3b636e5de4b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20 minutes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 dirty="0"/>
              <a:t>20 minutes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" dirty="0"/>
              <a:t>Remember, when you are done your first draft. YOU ARE NOT DONE.  COUNT YOUR WORDS, if you are over 20 or under 3 in any line of dialogue you must edit your own text to make it fit or expand on the world lore or to make the character speaking sound unique. 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3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4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5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5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1827" y="164073"/>
            <a:ext cx="2281100" cy="493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/>
          <p:nvPr/>
        </p:nvSpPr>
        <p:spPr>
          <a:xfrm>
            <a:off x="660300" y="809750"/>
            <a:ext cx="1562400" cy="7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ARM WEAR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660300" y="1991188"/>
            <a:ext cx="1562400" cy="7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MIDSECTION WEAR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660300" y="3172625"/>
            <a:ext cx="1562400" cy="7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SKIN MARKINGS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660300" y="4226275"/>
            <a:ext cx="1562400" cy="7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 FEATURES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7242050" y="442650"/>
            <a:ext cx="1562400" cy="7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FACE/HAIR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7315475" y="2098950"/>
            <a:ext cx="1562400" cy="7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CHEST WEAR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7315475" y="4075600"/>
            <a:ext cx="1562400" cy="7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FOOT WEAR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2"/>
          <p:cNvCxnSpPr/>
          <p:nvPr/>
        </p:nvCxnSpPr>
        <p:spPr>
          <a:xfrm>
            <a:off x="2222700" y="1222038"/>
            <a:ext cx="2198400" cy="242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45" name="Google Shape;145;p2"/>
          <p:cNvCxnSpPr/>
          <p:nvPr/>
        </p:nvCxnSpPr>
        <p:spPr>
          <a:xfrm>
            <a:off x="2222700" y="2329020"/>
            <a:ext cx="2669100" cy="159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46" name="Google Shape;146;p2"/>
          <p:cNvCxnSpPr>
            <a:stCxn id="141" idx="1"/>
          </p:cNvCxnSpPr>
          <p:nvPr/>
        </p:nvCxnSpPr>
        <p:spPr>
          <a:xfrm rot="10800000">
            <a:off x="5388650" y="756150"/>
            <a:ext cx="1853400" cy="76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47" name="Google Shape;147;p2"/>
          <p:cNvCxnSpPr/>
          <p:nvPr/>
        </p:nvCxnSpPr>
        <p:spPr>
          <a:xfrm rot="10800000">
            <a:off x="5388875" y="1622572"/>
            <a:ext cx="1926600" cy="844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48" name="Google Shape;148;p2"/>
          <p:cNvCxnSpPr/>
          <p:nvPr/>
        </p:nvCxnSpPr>
        <p:spPr>
          <a:xfrm flipH="1">
            <a:off x="5690706" y="4508995"/>
            <a:ext cx="1665600" cy="106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triangle" w="med" len="med"/>
          </a:ln>
        </p:spPr>
      </p:cxnSp>
      <p:grpSp>
        <p:nvGrpSpPr>
          <p:cNvPr id="149" name="Google Shape;149;p2"/>
          <p:cNvGrpSpPr/>
          <p:nvPr/>
        </p:nvGrpSpPr>
        <p:grpSpPr>
          <a:xfrm>
            <a:off x="275" y="-1900"/>
            <a:ext cx="4420723" cy="779452"/>
            <a:chOff x="0" y="214638"/>
            <a:chExt cx="3107932" cy="815582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51" name="Google Shape;151;p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53" name="Google Shape;153;p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54" name="Google Shape;154;p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56" name="Google Shape;156;p2"/>
          <p:cNvSpPr txBox="1"/>
          <p:nvPr/>
        </p:nvSpPr>
        <p:spPr>
          <a:xfrm flipH="1">
            <a:off x="12525" y="-82550"/>
            <a:ext cx="40908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800" b="0" i="0" u="none" strike="noStrike" cap="non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Role</a:t>
            </a:r>
            <a:endParaRPr sz="1700" b="0" i="0" u="none" strike="noStrike" cap="none">
              <a:solidFill>
                <a:srgbClr val="FF000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g3b636e5de4b_0_32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62" name="Google Shape;162;g3b636e5de4b_0_32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63" name="Google Shape;163;g3b636e5de4b_0_32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4" name="Google Shape;164;g3b636e5de4b_0_32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5" name="Google Shape;165;g3b636e5de4b_0_32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66" name="Google Shape;166;g3b636e5de4b_0_32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7" name="Google Shape;167;g3b636e5de4b_0_32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68" name="Google Shape;168;g3b636e5de4b_0_32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Checklist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9" name="Google Shape;169;g3b636e5de4b_0_32"/>
          <p:cNvGraphicFramePr/>
          <p:nvPr/>
        </p:nvGraphicFramePr>
        <p:xfrm>
          <a:off x="21850" y="851289"/>
          <a:ext cx="9080600" cy="4974750"/>
        </p:xfrm>
        <a:graphic>
          <a:graphicData uri="http://schemas.openxmlformats.org/drawingml/2006/table">
            <a:tbl>
              <a:tblPr bandCol="1">
                <a:noFill/>
                <a:tableStyleId>{692E3274-4D5C-44BF-BB08-FA6336CB3DAF}</a:tableStyleId>
              </a:tblPr>
              <a:tblGrid>
                <a:gridCol w="22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Goal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Why do they do, what they do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 specific personality / Universal Behaviour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makes them different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Flaw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negative about them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Secrets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Something mysterious about them (can be silly)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Belonging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Which group do they belong too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Assertiveness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present himself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Believe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In what do they believe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Specific Tastes and professions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What do they prefer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Information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How does he enrich the world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Hurt Them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The most hurtful situation </a:t>
                      </a:r>
                      <a:endParaRPr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400" b="1" u="none" strike="noStrike" cap="none"/>
                        <a:t>Special Skill</a:t>
                      </a: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100"/>
                        <a:t>Give them a cool but very dumb quirk</a:t>
                      </a:r>
                      <a:endParaRPr sz="11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/>
        </p:nvSpPr>
        <p:spPr>
          <a:xfrm>
            <a:off x="22124" y="703635"/>
            <a:ext cx="91221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Gender: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Personality: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Alignment: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Occupation: 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de" sz="1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shortly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424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3"/>
          <p:cNvGrpSpPr/>
          <p:nvPr/>
        </p:nvGrpSpPr>
        <p:grpSpPr>
          <a:xfrm>
            <a:off x="274" y="-1897"/>
            <a:ext cx="3491140" cy="779452"/>
            <a:chOff x="0" y="214638"/>
            <a:chExt cx="3107932" cy="815582"/>
          </a:xfrm>
        </p:grpSpPr>
        <p:grpSp>
          <p:nvGrpSpPr>
            <p:cNvPr id="176" name="Google Shape;176;p3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77" name="Google Shape;177;p3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8" name="Google Shape;178;p3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82" name="Google Shape;182;p3"/>
          <p:cNvSpPr txBox="1"/>
          <p:nvPr/>
        </p:nvSpPr>
        <p:spPr>
          <a:xfrm flipH="1">
            <a:off x="12825" y="-82556"/>
            <a:ext cx="37554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(short)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"/>
          <p:cNvSpPr txBox="1"/>
          <p:nvPr/>
        </p:nvSpPr>
        <p:spPr>
          <a:xfrm>
            <a:off x="22124" y="703635"/>
            <a:ext cx="9122100" cy="325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Describe the past, the what and the now (see the checklist)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0" i="0" u="none" strike="noStrike" cap="non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2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4"/>
          <p:cNvGrpSpPr/>
          <p:nvPr/>
        </p:nvGrpSpPr>
        <p:grpSpPr>
          <a:xfrm>
            <a:off x="274" y="-1897"/>
            <a:ext cx="3894239" cy="779452"/>
            <a:chOff x="0" y="214638"/>
            <a:chExt cx="3107932" cy="815582"/>
          </a:xfrm>
        </p:grpSpPr>
        <p:grpSp>
          <p:nvGrpSpPr>
            <p:cNvPr id="189" name="Google Shape;189;p4"/>
            <p:cNvGrpSpPr/>
            <p:nvPr/>
          </p:nvGrpSpPr>
          <p:grpSpPr>
            <a:xfrm>
              <a:off x="0" y="291855"/>
              <a:ext cx="3107932" cy="738365"/>
              <a:chOff x="0" y="225393"/>
              <a:chExt cx="3076856" cy="738365"/>
            </a:xfrm>
          </p:grpSpPr>
          <p:sp>
            <p:nvSpPr>
              <p:cNvPr id="190" name="Google Shape;190;p4"/>
              <p:cNvSpPr/>
              <p:nvPr/>
            </p:nvSpPr>
            <p:spPr>
              <a:xfrm>
                <a:off x="0" y="225393"/>
                <a:ext cx="2275500" cy="738300"/>
              </a:xfrm>
              <a:prstGeom prst="rec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1" name="Google Shape;191;p4"/>
              <p:cNvSpPr/>
              <p:nvPr/>
            </p:nvSpPr>
            <p:spPr>
              <a:xfrm>
                <a:off x="1938759" y="225393"/>
                <a:ext cx="1138097" cy="738365"/>
              </a:xfrm>
              <a:prstGeom prst="flowChartInputOutput">
                <a:avLst/>
              </a:prstGeom>
              <a:solidFill>
                <a:srgbClr val="5562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92" name="Google Shape;192;p4"/>
            <p:cNvGrpSpPr/>
            <p:nvPr/>
          </p:nvGrpSpPr>
          <p:grpSpPr>
            <a:xfrm>
              <a:off x="0" y="214638"/>
              <a:ext cx="3047301" cy="738365"/>
              <a:chOff x="0" y="214638"/>
              <a:chExt cx="3047301" cy="738365"/>
            </a:xfrm>
          </p:grpSpPr>
          <p:sp>
            <p:nvSpPr>
              <p:cNvPr id="193" name="Google Shape;193;p4"/>
              <p:cNvSpPr/>
              <p:nvPr/>
            </p:nvSpPr>
            <p:spPr>
              <a:xfrm>
                <a:off x="0" y="214638"/>
                <a:ext cx="2275500" cy="738300"/>
              </a:xfrm>
              <a:prstGeom prst="rec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94" name="Google Shape;194;p4"/>
              <p:cNvSpPr/>
              <p:nvPr/>
            </p:nvSpPr>
            <p:spPr>
              <a:xfrm>
                <a:off x="1909204" y="214638"/>
                <a:ext cx="1138097" cy="738365"/>
              </a:xfrm>
              <a:prstGeom prst="flowChartInputOutput">
                <a:avLst/>
              </a:prstGeom>
              <a:solidFill>
                <a:srgbClr val="1520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  <p:sp>
        <p:nvSpPr>
          <p:cNvPr id="195" name="Google Shape;195;p4"/>
          <p:cNvSpPr txBox="1"/>
          <p:nvPr/>
        </p:nvSpPr>
        <p:spPr>
          <a:xfrm flipH="1">
            <a:off x="12896" y="-82558"/>
            <a:ext cx="3805500" cy="8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</a:pPr>
            <a:r>
              <a:rPr lang="de" sz="1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Name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951"/>
              </a:buClr>
              <a:buSzPts val="1800"/>
              <a:buFont typeface="Montserrat ExtraBold"/>
              <a:buNone/>
            </a:pPr>
            <a:r>
              <a:rPr lang="de" sz="1800" b="0" i="0" u="none" strike="noStrike" cap="none">
                <a:solidFill>
                  <a:srgbClr val="FFB95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Character Bio (Long)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7" name="Google Shape;237;p6"/>
          <p:cNvGraphicFramePr/>
          <p:nvPr/>
        </p:nvGraphicFramePr>
        <p:xfrm>
          <a:off x="35626" y="50514"/>
          <a:ext cx="9108375" cy="5521740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29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v01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9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19283B3-1105-CB21-93A2-24081C7A5465}"/>
              </a:ext>
            </a:extLst>
          </p:cNvPr>
          <p:cNvSpPr/>
          <p:nvPr/>
        </p:nvSpPr>
        <p:spPr>
          <a:xfrm>
            <a:off x="-431800" y="4963160"/>
            <a:ext cx="10520680" cy="1041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242" name="Google Shape;242;p7"/>
          <p:cNvGraphicFramePr/>
          <p:nvPr>
            <p:extLst>
              <p:ext uri="{D42A27DB-BD31-4B8C-83A1-F6EECF244321}">
                <p14:modId xmlns:p14="http://schemas.microsoft.com/office/powerpoint/2010/main" val="883560380"/>
              </p:ext>
            </p:extLst>
          </p:nvPr>
        </p:nvGraphicFramePr>
        <p:xfrm>
          <a:off x="1" y="0"/>
          <a:ext cx="9088119" cy="5463960"/>
        </p:xfrm>
        <a:graphic>
          <a:graphicData uri="http://schemas.openxmlformats.org/drawingml/2006/table">
            <a:tbl>
              <a:tblPr firstRow="1" bandRow="1">
                <a:noFill/>
                <a:tableStyleId>{692E3274-4D5C-44BF-BB08-FA6336CB3DAF}</a:tableStyleId>
              </a:tblPr>
              <a:tblGrid>
                <a:gridCol w="1299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8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dirty="0">
                          <a:solidFill>
                            <a:schemeClr val="dk1"/>
                          </a:solidFill>
                        </a:rPr>
                        <a:t>Vorher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dirty="0">
                          <a:solidFill>
                            <a:schemeClr val="dk1"/>
                          </a:solidFill>
                        </a:rPr>
                        <a:t>Situation </a:t>
                      </a: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6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Nach Richtiger Mask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 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6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Character: (Name)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 dirty="0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 dirty="0"/>
                        <a:t>nach falscher mask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DIALOGUE BARK –  </a:t>
                      </a:r>
                      <a:r>
                        <a:rPr lang="de" sz="1100" b="1"/>
                        <a:t>Situation </a:t>
                      </a:r>
                      <a:r>
                        <a:rPr lang="de" sz="1100" b="1" u="none" strike="noStrike" cap="none">
                          <a:solidFill>
                            <a:schemeClr val="dk1"/>
                          </a:solidFill>
                        </a:rPr>
                        <a:t>v02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 dirty="0"/>
                        <a:t>Location/Action</a:t>
                      </a:r>
                      <a:endParaRPr sz="11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67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" sz="1100"/>
                        <a:t>Location/Action</a:t>
                      </a:r>
                      <a:endParaRPr sz="11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/>
                    </a:p>
                  </a:txBody>
                  <a:tcPr marL="68600" marR="68600" marT="34300" marB="3430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u="none" strike="noStrike" cap="none" dirty="0"/>
                    </a:p>
                  </a:txBody>
                  <a:tcPr marL="68600" marR="68600" marT="34300" marB="343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43" name="Google Shape;243;p7"/>
          <p:cNvSpPr txBox="1"/>
          <p:nvPr/>
        </p:nvSpPr>
        <p:spPr>
          <a:xfrm>
            <a:off x="-248920" y="-2001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de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Bildschirmpräsentation (16:9)</PresentationFormat>
  <Paragraphs>115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6</vt:i4>
      </vt:variant>
    </vt:vector>
  </HeadingPairs>
  <TitlesOfParts>
    <vt:vector size="12" baseType="lpstr">
      <vt:lpstr>Montserrat ExtraBold</vt:lpstr>
      <vt:lpstr>Calibri</vt:lpstr>
      <vt:lpstr>Arial</vt:lpstr>
      <vt:lpstr>Montserrat</vt:lpstr>
      <vt:lpstr>Simple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Hever, Jonas (Stud SRH-University)</cp:lastModifiedBy>
  <cp:revision>1</cp:revision>
  <dcterms:modified xsi:type="dcterms:W3CDTF">2026-01-30T19:16:47Z</dcterms:modified>
</cp:coreProperties>
</file>