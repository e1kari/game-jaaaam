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Play"/>
      <p:regular r:id="rId11"/>
      <p:bold r:id="rId12"/>
    </p:embeddedFont>
    <p:embeddedFont>
      <p:font typeface="Helvetica Neue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7" roundtripDataSignature="AMtx7mjZneuFlGCay4cpMcEtb364Khka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E303596-9654-45B1-9DB3-FDCC80F09DBA}">
  <a:tblStyle styleId="{FE303596-9654-45B1-9DB3-FDCC80F09DB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ay-regular.fntdata"/><Relationship Id="rId10" Type="http://schemas.openxmlformats.org/officeDocument/2006/relationships/slide" Target="slides/slide4.xml"/><Relationship Id="rId13" Type="http://schemas.openxmlformats.org/officeDocument/2006/relationships/font" Target="fonts/HelveticaNeue-regular.fntdata"/><Relationship Id="rId12" Type="http://schemas.openxmlformats.org/officeDocument/2006/relationships/font" Target="fonts/Pl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HelveticaNeue-italic.fntdata"/><Relationship Id="rId14" Type="http://schemas.openxmlformats.org/officeDocument/2006/relationships/font" Target="fonts/HelveticaNeue-bold.fntdata"/><Relationship Id="rId17" Type="http://customschemas.google.com/relationships/presentationmetadata" Target="metadata"/><Relationship Id="rId16" Type="http://schemas.openxmlformats.org/officeDocument/2006/relationships/font" Target="fonts/HelveticaNeue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re et contenu">
  <p:cSld name="3_Titre et contenu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idx="1" type="body"/>
          </p:nvPr>
        </p:nvSpPr>
        <p:spPr>
          <a:xfrm>
            <a:off x="457200" y="843559"/>
            <a:ext cx="82296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30200" lvl="0" marL="45720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  <a:defRPr b="1" i="0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>
                <a:latin typeface="Play"/>
                <a:ea typeface="Play"/>
                <a:cs typeface="Play"/>
                <a:sym typeface="Play"/>
              </a:defRPr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400">
                <a:latin typeface="Play"/>
                <a:ea typeface="Play"/>
                <a:cs typeface="Play"/>
                <a:sym typeface="Play"/>
              </a:defRPr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type="title"/>
          </p:nvPr>
        </p:nvSpPr>
        <p:spPr>
          <a:xfrm>
            <a:off x="52870" y="51506"/>
            <a:ext cx="7687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F533D"/>
              </a:buClr>
              <a:buSzPts val="3600"/>
              <a:buFont typeface="Calibri"/>
              <a:buNone/>
              <a:defRPr b="1" sz="3600" cap="none">
                <a:solidFill>
                  <a:srgbClr val="AF53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de"/>
              <a:t>Create a bubble diagram</a:t>
            </a:r>
            <a:endParaRPr/>
          </a:p>
        </p:txBody>
      </p:sp>
      <p:sp>
        <p:nvSpPr>
          <p:cNvPr id="58" name="Google Shape;58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" sz="1100">
                <a:solidFill>
                  <a:schemeClr val="dk1"/>
                </a:solidFill>
              </a:rPr>
              <a:t>Define Spatial Requirements</a:t>
            </a:r>
            <a:r>
              <a:rPr lang="de" sz="1100">
                <a:solidFill>
                  <a:schemeClr val="dk1"/>
                </a:solidFill>
              </a:rPr>
              <a:t>: Start by identifying the different spaces (e.g., kitchen, living room, bedroom) and draw bubbles for each, sized roughly based on their importance or area requirements.</a:t>
            </a:r>
            <a:br>
              <a:rPr lang="de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" sz="1100">
                <a:solidFill>
                  <a:schemeClr val="dk1"/>
                </a:solidFill>
              </a:rPr>
              <a:t>Organize Adjacencies</a:t>
            </a:r>
            <a:r>
              <a:rPr lang="de" sz="1100">
                <a:solidFill>
                  <a:schemeClr val="dk1"/>
                </a:solidFill>
              </a:rPr>
              <a:t>: Place related spaces near each other (e.g., kitchen next to dining area) and connect them with lines to show desired adjacencies and flow.</a:t>
            </a:r>
            <a:br>
              <a:rPr lang="de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" sz="1100">
                <a:solidFill>
                  <a:schemeClr val="dk1"/>
                </a:solidFill>
              </a:rPr>
              <a:t>Consider Circulation Paths</a:t>
            </a:r>
            <a:r>
              <a:rPr lang="de" sz="1100">
                <a:solidFill>
                  <a:schemeClr val="dk1"/>
                </a:solidFill>
              </a:rPr>
              <a:t>: Use arrows or additional lines to indicate major movement routes, entrances, and connections between key zones.</a:t>
            </a:r>
            <a:br>
              <a:rPr lang="de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" sz="1100">
                <a:solidFill>
                  <a:schemeClr val="dk1"/>
                </a:solidFill>
              </a:rPr>
              <a:t>Refine Relationships</a:t>
            </a:r>
            <a:r>
              <a:rPr lang="de" sz="1100">
                <a:solidFill>
                  <a:schemeClr val="dk1"/>
                </a:solidFill>
              </a:rPr>
              <a:t>: Adjust bubble positions and sizes to explore different layout possibilities before moving on to detailed plans.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Google Shape;69;p8"/>
          <p:cNvGraphicFramePr/>
          <p:nvPr/>
        </p:nvGraphicFramePr>
        <p:xfrm>
          <a:off x="6176956" y="-217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{FE303596-9654-45B1-9DB3-FDCC80F09DBA}</a:tableStyleId>
              </a:tblPr>
              <a:tblGrid>
                <a:gridCol w="2937900"/>
              </a:tblGrid>
              <a:tr h="20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de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LOCATION THEMATIC &amp; APPEARANCE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795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de" sz="900" u="none" cap="none" strike="noStrike">
                          <a:solidFill>
                            <a:srgbClr val="FF0000"/>
                          </a:solidFill>
                        </a:rPr>
                        <a:t>Describe the  thematic idea</a:t>
                      </a:r>
                      <a:endParaRPr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0" name="Google Shape;70;p8"/>
          <p:cNvGraphicFramePr/>
          <p:nvPr/>
        </p:nvGraphicFramePr>
        <p:xfrm>
          <a:off x="6170595" y="9760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{FE303596-9654-45B1-9DB3-FDCC80F09DBA}</a:tableStyleId>
              </a:tblPr>
              <a:tblGrid>
                <a:gridCol w="2937900"/>
              </a:tblGrid>
              <a:tr h="24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de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LOCATION FUNCTION IN THE WORLD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de" sz="900" u="none" cap="none" strike="noStrike">
                          <a:solidFill>
                            <a:srgbClr val="FF0000"/>
                          </a:solidFill>
                        </a:rPr>
                        <a:t>Describe  how it is  used in your game/Experience</a:t>
                      </a:r>
                      <a:endParaRPr sz="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1" name="Google Shape;71;p8"/>
          <p:cNvGraphicFramePr/>
          <p:nvPr/>
        </p:nvGraphicFramePr>
        <p:xfrm>
          <a:off x="-8" y="33795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{FE303596-9654-45B1-9DB3-FDCC80F09DBA}</a:tableStyleId>
              </a:tblPr>
              <a:tblGrid>
                <a:gridCol w="2877650"/>
              </a:tblGrid>
              <a:tr h="17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de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SITES IN MISSION LOCATION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9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u="none" cap="none" strike="noStrike">
                          <a:solidFill>
                            <a:srgbClr val="FF0000"/>
                          </a:solidFill>
                        </a:rPr>
                        <a:t>Name every location important for quest design</a:t>
                      </a:r>
                      <a:endParaRPr sz="1100" u="none" cap="none" strike="noStrike">
                        <a:solidFill>
                          <a:srgbClr val="FF0000"/>
                        </a:solidFill>
                      </a:endParaRPr>
                    </a:p>
                    <a:p>
                      <a:pPr indent="-6350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de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b="0" i="0" sz="9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90325">
                <a:tc>
                  <a:txBody>
                    <a:bodyPr/>
                    <a:lstStyle/>
                    <a:p>
                      <a:pPr indent="-6350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9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2" name="Google Shape;72;p8"/>
          <p:cNvGraphicFramePr/>
          <p:nvPr/>
        </p:nvGraphicFramePr>
        <p:xfrm>
          <a:off x="6170595" y="18903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{FE303596-9654-45B1-9DB3-FDCC80F09DBA}</a:tableStyleId>
              </a:tblPr>
              <a:tblGrid>
                <a:gridCol w="2937900"/>
              </a:tblGrid>
              <a:tr h="339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de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BACKSTORY (in TCTD lore)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2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de" sz="900" u="none" cap="none" strike="noStrike">
                          <a:solidFill>
                            <a:srgbClr val="FF0000"/>
                          </a:solidFill>
                        </a:rPr>
                        <a:t>Describe what  it´s backstory  is</a:t>
                      </a:r>
                      <a:endParaRPr sz="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" name="Google Shape;73;p8"/>
          <p:cNvGraphicFramePr/>
          <p:nvPr/>
        </p:nvGraphicFramePr>
        <p:xfrm>
          <a:off x="3052224" y="33794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{FE303596-9654-45B1-9DB3-FDCC80F09DBA}</a:tableStyleId>
              </a:tblPr>
              <a:tblGrid>
                <a:gridCol w="2888700"/>
              </a:tblGrid>
              <a:tr h="246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de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LEVEL ART IMPORTANT DETAILS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463050">
                <a:tc>
                  <a:txBody>
                    <a:bodyPr/>
                    <a:lstStyle/>
                    <a:p>
                      <a:pPr indent="-6350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de" sz="1100" u="none" cap="none" strike="noStrike">
                          <a:solidFill>
                            <a:srgbClr val="FF0000"/>
                          </a:solidFill>
                        </a:rPr>
                        <a:t>Describe your  Points  of interest  </a:t>
                      </a:r>
                      <a:endParaRPr sz="1100" u="none" cap="none" strike="noStrike">
                        <a:solidFill>
                          <a:srgbClr val="FF0000"/>
                        </a:solidFill>
                      </a:endParaRPr>
                    </a:p>
                    <a:p>
                      <a:pPr indent="-6350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de" sz="1100" u="none" cap="none" strike="noStrike">
                          <a:solidFill>
                            <a:srgbClr val="FF0000"/>
                          </a:solidFill>
                        </a:rPr>
                        <a:t>Describe the go to go live roughly</a:t>
                      </a:r>
                      <a:endParaRPr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4" name="Google Shape;74;p8"/>
          <p:cNvGraphicFramePr/>
          <p:nvPr/>
        </p:nvGraphicFramePr>
        <p:xfrm>
          <a:off x="6176958" y="296870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{FE303596-9654-45B1-9DB3-FDCC80F09DBA}</a:tableStyleId>
              </a:tblPr>
              <a:tblGrid>
                <a:gridCol w="2945225"/>
              </a:tblGrid>
              <a:tr h="337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de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Important NPCs (enemies, neutral, allies)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de" sz="900" u="none" cap="none" strike="noStrike">
                          <a:solidFill>
                            <a:srgbClr val="FF0000"/>
                          </a:solidFill>
                        </a:rPr>
                        <a:t>Breakdown the NPCs in this Location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5" name="Google Shape;75;p8"/>
          <p:cNvGraphicFramePr/>
          <p:nvPr/>
        </p:nvGraphicFramePr>
        <p:xfrm>
          <a:off x="6180626" y="43188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{FE303596-9654-45B1-9DB3-FDCC80F09DBA}</a:tableStyleId>
              </a:tblPr>
              <a:tblGrid>
                <a:gridCol w="2937900"/>
              </a:tblGrid>
              <a:tr h="24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de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GAMEPLAY USAGE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958900">
                <a:tc>
                  <a:txBody>
                    <a:bodyPr/>
                    <a:lstStyle/>
                    <a:p>
                      <a:pPr indent="-21590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de" sz="900" u="none" cap="none" strike="noStrike">
                          <a:solidFill>
                            <a:srgbClr val="FF0000"/>
                          </a:solidFill>
                        </a:rPr>
                        <a:t>Describe how the location is  used in your gameplay</a:t>
                      </a:r>
                      <a:endParaRPr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6" name="Google Shape;76;p8"/>
          <p:cNvSpPr txBox="1"/>
          <p:nvPr/>
        </p:nvSpPr>
        <p:spPr>
          <a:xfrm>
            <a:off x="117105" y="2976424"/>
            <a:ext cx="1275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de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Community Sign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8"/>
          <p:cNvSpPr txBox="1"/>
          <p:nvPr/>
        </p:nvSpPr>
        <p:spPr>
          <a:xfrm>
            <a:off x="4386960" y="1643477"/>
            <a:ext cx="16791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de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Eighth Regiment Armory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8"/>
          <p:cNvSpPr txBox="1"/>
          <p:nvPr/>
        </p:nvSpPr>
        <p:spPr>
          <a:xfrm>
            <a:off x="4386960" y="2968698"/>
            <a:ext cx="1679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de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Unity Hall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8"/>
          <p:cNvSpPr txBox="1"/>
          <p:nvPr/>
        </p:nvSpPr>
        <p:spPr>
          <a:xfrm>
            <a:off x="2699792" y="1643477"/>
            <a:ext cx="16791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de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Douglas Monument Park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0" name="Google Shape;80;p8"/>
          <p:cNvGraphicFramePr/>
          <p:nvPr/>
        </p:nvGraphicFramePr>
        <p:xfrm>
          <a:off x="36466" y="261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{FE303596-9654-45B1-9DB3-FDCC80F09DBA}</a:tableStyleId>
              </a:tblPr>
              <a:tblGrid>
                <a:gridCol w="6091525"/>
              </a:tblGrid>
              <a:tr h="486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de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LOCATION NAME: (Player’s Starting point)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de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LOCATION DESCRIPTION: (Name of the location)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838250">
                <a:tc>
                  <a:txBody>
                    <a:bodyPr/>
                    <a:lstStyle/>
                    <a:p>
                      <a:pPr indent="-6350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1" name="Google Shape;81;p8"/>
          <p:cNvSpPr txBox="1"/>
          <p:nvPr/>
        </p:nvSpPr>
        <p:spPr>
          <a:xfrm>
            <a:off x="983114" y="1387172"/>
            <a:ext cx="41535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de" sz="1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visual references (as many images as needed)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-"/>
            </a:pPr>
            <a:r>
              <a:rPr b="0" i="0" lang="de" sz="1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meant to summarize the intention and appeal of the location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9"/>
          <p:cNvGraphicFramePr/>
          <p:nvPr/>
        </p:nvGraphicFramePr>
        <p:xfrm>
          <a:off x="6127975" y="38010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{FE303596-9654-45B1-9DB3-FDCC80F09DBA}</a:tableStyleId>
              </a:tblPr>
              <a:tblGrid>
                <a:gridCol w="2937900"/>
              </a:tblGrid>
              <a:tr h="24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de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GAMEPLAY USAGE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-21590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de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 what context/purpose is this location used (activities, functions, etc.)</a:t>
                      </a:r>
                      <a:endParaRPr sz="1100" u="none" cap="none" strike="noStrike"/>
                    </a:p>
                    <a:p>
                      <a:pPr indent="-21590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de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purpose does this serve when it comes to the Gameplay or story.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i="1"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7" name="Google Shape;87;p9"/>
          <p:cNvSpPr txBox="1"/>
          <p:nvPr/>
        </p:nvSpPr>
        <p:spPr>
          <a:xfrm>
            <a:off x="117105" y="2976424"/>
            <a:ext cx="1275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de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Community Sign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9"/>
          <p:cNvSpPr txBox="1"/>
          <p:nvPr/>
        </p:nvSpPr>
        <p:spPr>
          <a:xfrm>
            <a:off x="4386960" y="1643477"/>
            <a:ext cx="16791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de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Eighth Regiment Armory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9"/>
          <p:cNvSpPr txBox="1"/>
          <p:nvPr/>
        </p:nvSpPr>
        <p:spPr>
          <a:xfrm>
            <a:off x="4386960" y="2968698"/>
            <a:ext cx="1679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de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Unity Hall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9"/>
          <p:cNvSpPr txBox="1"/>
          <p:nvPr/>
        </p:nvSpPr>
        <p:spPr>
          <a:xfrm>
            <a:off x="2699792" y="1643477"/>
            <a:ext cx="16791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de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Douglas Monument Park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1" name="Google Shape;91;p9"/>
          <p:cNvGraphicFramePr/>
          <p:nvPr/>
        </p:nvGraphicFramePr>
        <p:xfrm>
          <a:off x="36466" y="261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{FE303596-9654-45B1-9DB3-FDCC80F09DBA}</a:tableStyleId>
              </a:tblPr>
              <a:tblGrid>
                <a:gridCol w="9107525"/>
              </a:tblGrid>
              <a:tr h="53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de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BUILDING NAME: 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de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BUILDING DESCRIPTION: BUILDING 1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de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LOCATION: 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148575">
                <a:tc>
                  <a:txBody>
                    <a:bodyPr/>
                    <a:lstStyle/>
                    <a:p>
                      <a:pPr indent="-6350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2" name="Google Shape;92;p9"/>
          <p:cNvSpPr txBox="1"/>
          <p:nvPr/>
        </p:nvSpPr>
        <p:spPr>
          <a:xfrm>
            <a:off x="2140958" y="1581970"/>
            <a:ext cx="4153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de" sz="1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Exterior/Interior visual references (as many images as needed)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de" sz="1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meant to summarize the intention and appeal of the location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3" name="Google Shape;93;p9"/>
          <p:cNvGraphicFramePr/>
          <p:nvPr/>
        </p:nvGraphicFramePr>
        <p:xfrm>
          <a:off x="3101974" y="38212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{FE303596-9654-45B1-9DB3-FDCC80F09DBA}</a:tableStyleId>
              </a:tblPr>
              <a:tblGrid>
                <a:gridCol w="2888700"/>
              </a:tblGrid>
              <a:tr h="17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de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LEVEL ART IMPORTANT DETAILS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56050">
                <a:tc>
                  <a:txBody>
                    <a:bodyPr/>
                    <a:lstStyle/>
                    <a:p>
                      <a:pPr indent="-21590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de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Core LA elements, meant to emphasize on the location theme, its function in the world and its backstory in the game's lore</a:t>
                      </a:r>
                      <a:endParaRPr sz="1100" u="none" cap="none" strike="noStrike"/>
                    </a:p>
                    <a:p>
                      <a:pPr indent="-21590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de" sz="11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These elements are meant to be clearly visible for the player to understand the elements above.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" name="Google Shape;94;p9"/>
          <p:cNvGraphicFramePr/>
          <p:nvPr/>
        </p:nvGraphicFramePr>
        <p:xfrm>
          <a:off x="78134" y="38212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{FE303596-9654-45B1-9DB3-FDCC80F09DBA}</a:tableStyleId>
              </a:tblPr>
              <a:tblGrid>
                <a:gridCol w="2888700"/>
              </a:tblGrid>
              <a:tr h="161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de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NPCs (enemies, neutral, or allies) 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959375">
                <a:tc>
                  <a:txBody>
                    <a:bodyPr/>
                    <a:lstStyle/>
                    <a:p>
                      <a:pPr indent="-21590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de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Which NPCs are present in this location</a:t>
                      </a:r>
                      <a:endParaRPr sz="1100" u="none" cap="none" strike="noStrike"/>
                    </a:p>
                    <a:p>
                      <a:pPr indent="-215900" lvl="0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de" sz="11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﻿﻿For each NPC/NPC group, indicate if they are enemies, neutral or allies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